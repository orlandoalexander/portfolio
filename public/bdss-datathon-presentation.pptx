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05B63E-D8EF-D866-259D-2286FBF1BF9A}" v="255" dt="2026-03-15T14:35:22.948"/>
    <p1510:client id="{32A43556-62E1-5DBE-DEFC-EEB3A529328E}" v="720" dt="2026-03-15T14:52:51.998"/>
    <p1510:client id="{7B618096-0EA6-6294-A62D-AF5099E7A7B8}" v="3" dt="2026-03-15T15:05:02.237"/>
    <p1510:client id="{8BB41D5A-2AE2-844B-972D-7EE6E77917CE}" v="181" dt="2026-03-15T15:05:22.406"/>
    <p1510:client id="{8C114ABF-244D-7891-971B-B8E02555267B}" v="399" dt="2026-03-15T14:13:48.2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35"/>
  </p:normalViewPr>
  <p:slideViewPr>
    <p:cSldViewPr snapToGrid="0">
      <p:cViewPr varScale="1">
        <p:scale>
          <a:sx n="120" d="100"/>
          <a:sy n="120" d="100"/>
        </p:scale>
        <p:origin x="376"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5/10/relationships/revisionInfo" Target="revisionInfo.xml"/><Relationship Id="rId27"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a:pPr>
            <a:r>
              <a:rPr lang="en-GB"/>
              <a:t>AUC Score</a:t>
            </a:r>
          </a:p>
        </c:rich>
      </c:tx>
      <c:overlay val="0"/>
    </c:title>
    <c:autoTitleDeleted val="0"/>
    <c:plotArea>
      <c:layout/>
      <c:barChart>
        <c:barDir val="col"/>
        <c:grouping val="clustered"/>
        <c:varyColors val="1"/>
        <c:ser>
          <c:idx val="0"/>
          <c:order val="0"/>
          <c:tx>
            <c:strRef>
              <c:f>Sheet1!$B$1</c:f>
              <c:strCache>
                <c:ptCount val="1"/>
                <c:pt idx="0">
                  <c:v>AUC</c:v>
                </c:pt>
              </c:strCache>
            </c:strRef>
          </c:tx>
          <c:spPr>
            <a:solidFill>
              <a:srgbClr val="006A4D"/>
            </a:solidFill>
          </c:spPr>
          <c:invertIfNegative val="1"/>
          <c:cat>
            <c:strRef>
              <c:f>Sheet1!$A$2:$A$6</c:f>
              <c:strCache>
                <c:ptCount val="5"/>
                <c:pt idx="0">
                  <c:v>Logistic Regression</c:v>
                </c:pt>
                <c:pt idx="1">
                  <c:v>Random Forest</c:v>
                </c:pt>
                <c:pt idx="2">
                  <c:v>TabNet</c:v>
                </c:pt>
                <c:pt idx="3">
                  <c:v>XGBoost</c:v>
                </c:pt>
                <c:pt idx="4">
                  <c:v>Optuna LightGBM</c:v>
                </c:pt>
              </c:strCache>
            </c:strRef>
          </c:cat>
          <c:val>
            <c:numRef>
              <c:f>Sheet1!$B$2:$B$6</c:f>
              <c:numCache>
                <c:formatCode>General</c:formatCode>
                <c:ptCount val="5"/>
                <c:pt idx="0">
                  <c:v>0.97219999999999995</c:v>
                </c:pt>
                <c:pt idx="1">
                  <c:v>0.95299999999999996</c:v>
                </c:pt>
                <c:pt idx="2">
                  <c:v>0.98240000000000005</c:v>
                </c:pt>
                <c:pt idx="3">
                  <c:v>0.97370000000000001</c:v>
                </c:pt>
                <c:pt idx="4">
                  <c:v>0.99160000000000004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8F5-1B44-B66C-BD4509A48C81}"/>
            </c:ext>
          </c:extLst>
        </c:ser>
        <c:dLbls>
          <c:showLegendKey val="0"/>
          <c:showVal val="0"/>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
          <c:min val="0.8"/>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a:pPr>
            <a:r>
              <a:rPr lang="en-GB"/>
              <a:t>F1 Score (Threshold-Tuned)</a:t>
            </a:r>
          </a:p>
        </c:rich>
      </c:tx>
      <c:overlay val="0"/>
    </c:title>
    <c:autoTitleDeleted val="0"/>
    <c:plotArea>
      <c:layout/>
      <c:barChart>
        <c:barDir val="col"/>
        <c:grouping val="clustered"/>
        <c:varyColors val="1"/>
        <c:ser>
          <c:idx val="0"/>
          <c:order val="0"/>
          <c:tx>
            <c:strRef>
              <c:f>Sheet1!$B$1</c:f>
              <c:strCache>
                <c:ptCount val="1"/>
                <c:pt idx="0">
                  <c:v>F1 Score</c:v>
                </c:pt>
              </c:strCache>
            </c:strRef>
          </c:tx>
          <c:spPr>
            <a:solidFill>
              <a:srgbClr val="0072CE"/>
            </a:solidFill>
          </c:spPr>
          <c:invertIfNegative val="1"/>
          <c:cat>
            <c:strRef>
              <c:f>Sheet1!$A$2:$A$7</c:f>
              <c:strCache>
                <c:ptCount val="6"/>
                <c:pt idx="0">
                  <c:v>Logistic Regression</c:v>
                </c:pt>
                <c:pt idx="1">
                  <c:v>Random Forest</c:v>
                </c:pt>
                <c:pt idx="2">
                  <c:v>TabNet</c:v>
                </c:pt>
                <c:pt idx="3">
                  <c:v>XGBoost</c:v>
                </c:pt>
                <c:pt idx="4">
                  <c:v>Optuna LightGBM</c:v>
                </c:pt>
                <c:pt idx="5">
                  <c:v>Flan-T5-Small</c:v>
                </c:pt>
              </c:strCache>
            </c:strRef>
          </c:cat>
          <c:val>
            <c:numRef>
              <c:f>Sheet1!$B$2:$B$7</c:f>
              <c:numCache>
                <c:formatCode>General</c:formatCode>
                <c:ptCount val="6"/>
                <c:pt idx="0">
                  <c:v>0.82469999999999999</c:v>
                </c:pt>
                <c:pt idx="1">
                  <c:v>0.88170000000000004</c:v>
                </c:pt>
                <c:pt idx="2">
                  <c:v>0.77449999999999997</c:v>
                </c:pt>
                <c:pt idx="3">
                  <c:v>0.86780000000000002</c:v>
                </c:pt>
                <c:pt idx="4">
                  <c:v>0.67810000000000004</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697-8848-9130-443F591872FE}"/>
            </c:ext>
          </c:extLst>
        </c:ser>
        <c:dLbls>
          <c:showLegendKey val="0"/>
          <c:showVal val="0"/>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Our team tackled the credit card fraud detection challenge — but with a twist. We didn't just build the best model. We asked: can we detect fraud effectively while minimising our environmental footprint? We tested 6 models spanning the full complexity spectrum, from logistic regression to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 card fraud is a massive problem — Lloyds processes around 100 million transactions per day. The challenge is detecting the 0.17% that are fraudulent without flagging legitimate customers. Our dataset has 284,000 transactions with only 492 fraud cases. This extreme imbalance is key to understanding our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performance table — and importantly, all F1 scores use threshold tuning, not the default 0.5 cutoff. This matters hugely for imbalanced data. XGBoost leads with F1 of 0.87 and excellent precision of 0.90 — meaning very few false alarms. Random Forest is close behind. Notice Flan-T5 at the bottom with zeros across the board — we'll explain why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charts here. On the left, AUC scores — TabNet actually has the highest AUC at 0.98, but AUC can be misleading for imbalanced datasets. On the right, F1 scores tell the real story — XGBoost and Random Forest dominate. The key takeaway: always look at F1 and precision for fraud detection, not just AUC.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environmental side. Look at the range — Logistic Regression trains in 0.2 seconds with essentially zero carbon. XGBoost takes 13 seconds at 0.026 grams. But LightGBM with Optuna tuning took 510 seconds because it ran 50 separate trials. The tuning process itself has a carbon cost we need to consider.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bar chart makes the carbon differences visual. XGBoost is the second most efficient after Logistic Regression, but with dramatically better performance. TabNet and LightGBM with Optuna are the most carbon-intensive of the tabular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overlay all ROC curves on one plot. You can see they're all clustered near the top-left corner — all models are decent at ranking fraud vs legit. TabNet has the highest AUC curve, but remember, AUC doesn't tell you about the actual classification threshold. That's where threshold tuning comes 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Regression's confusion matrix shows the problem with the default threshold — it flags a huge number of legitimate transactions as fraud. High recall of 92% but terrible precision of 6%. After threshold tuning, F1 jumps from 0.11 to 0.82.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is much more balanced — 96% precision with 74% recall at the default threshold. After tuning, F1 improves to 0.88. Very few false positives, which is what you want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TabNet shows the attention-based deep learning approach. Highest AUC but the F1 gap between default and tuned threshold is massive — 0.25 to 0.77. This demonstrates why threshold tuning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 our best performer. Only 6 false positives out of 56,000 legitimate transactions, and catches 81 out of 98 frauds. F1 of 0.88 with 0.026 grams of CO2. This is the sweet spot of performance and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Pareto frontier shows which models are efficient — meaning no other model beats them on both F1 AND carbon. On the left, zoomed into the tabular models. XGBoost and Random Forest sit on the frontier. On the right, the full picture showing Flan-T5 as a massive outlier — high carbon, zero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our key insights. Threshold tuning is completely free — zero extra carbon. It's just smarter post-processing of existing predictions. Look at the improvements: Logistic Regression jumps 623%, TabNet 205%. Even XGBoost and LightGBM, which already had good defaults, improve slightly. Every model should do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investigated diminishing returns by training Random Forest with different numbers of trees. The left plot shows F1 plateaus around 50-100 trees. The right shows the carbon cost keeps rising linearly. Going from 100 to 500 trees costs 5x more carbon for negligible F1 gain. This is the kind of analysis that informs responsible model selection.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hidden cost of hyperparameter tuning. The green bars show a single training run. The red bars show the cost with Optuna's 50 trials. LightGBM's tuning cost is 36x more than a single run. The question is: does the performance improvement justify 36x the carbon?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to Lloyds' 100 million daily transactions. On the left, the tabular models — even the most expensive (XGBoost) would only emit about 2kg of CO2 per year. On the right, Flan-T5 would emit nearly 10,000kg — the equivalent of driving a car thousands of kilometres. For zero fraud detected.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Flan-T5 completely fail? Five reasons. First, it's designed for natural language, not numbers. Second, the tokeniser breaks numbers into arbitrary text tokens — 1.3578 loses all mathematical meaning. Third, 60 million parameters to do what logistic regression does with 30 coefficients. Fourth, no probability output means we can't do threshold tuning. Fifth, with only 3 fraud cases in test, it learns that always saying 'legit' minimises its loss function. 4,300 times more carbon than LogReg for zero fraud detected.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efficiency leaderboard. The formula is 0.7 times F1 minus 0.3 times normalised CO2. We don't normalise F1 since it's already 0 to 1, but CO2 needs normalising because values range from 0.001 to 4.3 grams. Random Forest and XGBoost lead. Flan-T5 goes negative — its carbon penalty outweighs its zero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key takeaways. XGBoost wins overall. Threshold tuning is free and should always be done. Hyperparameter search has a hidden carbon cost. Generative models are fundamentally wrong for tabular data. And our recommendation: deploy XGBoost with threshold tuning, or use a two-stage pipeline with LogReg as a fast filter to save 90% of inference carbon.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Happy to take questions about any of the models, the efficiency formula, or our carbon analysis methodology.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0"/>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10058400" cy="1097280"/>
          </a:xfrm>
          <a:prstGeom prst="rect">
            <a:avLst/>
          </a:prstGeom>
          <a:noFill/>
        </p:spPr>
        <p:txBody>
          <a:bodyPr wrap="square">
            <a:spAutoFit/>
          </a:bodyPr>
          <a:lstStyle/>
          <a:p>
            <a:pPr algn="l">
              <a:defRPr sz="4000" b="1">
                <a:solidFill>
                  <a:srgbClr val="FFFFFF"/>
                </a:solidFill>
                <a:latin typeface="Calibri"/>
              </a:defRPr>
            </a:pPr>
            <a:r>
              <a:t>BDSS Annual Datathon 2026</a:t>
            </a:r>
          </a:p>
        </p:txBody>
      </p:sp>
      <p:sp>
        <p:nvSpPr>
          <p:cNvPr id="4" name="TextBox 3"/>
          <p:cNvSpPr txBox="1"/>
          <p:nvPr/>
        </p:nvSpPr>
        <p:spPr>
          <a:xfrm>
            <a:off x="731520" y="1463040"/>
            <a:ext cx="10058400" cy="731520"/>
          </a:xfrm>
          <a:prstGeom prst="rect">
            <a:avLst/>
          </a:prstGeom>
          <a:noFill/>
        </p:spPr>
        <p:txBody>
          <a:bodyPr wrap="square">
            <a:spAutoFit/>
          </a:bodyPr>
          <a:lstStyle/>
          <a:p>
            <a:pPr algn="l">
              <a:defRPr sz="2400" b="0">
                <a:solidFill>
                  <a:srgbClr val="FFFFFF"/>
                </a:solidFill>
                <a:latin typeface="Calibri"/>
              </a:defRPr>
            </a:pPr>
            <a:r>
              <a:t>Evaluating Model Performance vs Environmental Footprint</a:t>
            </a:r>
          </a:p>
        </p:txBody>
      </p:sp>
      <p:sp>
        <p:nvSpPr>
          <p:cNvPr id="5" name="TextBox 4"/>
          <p:cNvSpPr txBox="1"/>
          <p:nvPr/>
        </p:nvSpPr>
        <p:spPr>
          <a:xfrm>
            <a:off x="731520" y="2103120"/>
            <a:ext cx="10058400" cy="548640"/>
          </a:xfrm>
          <a:prstGeom prst="rect">
            <a:avLst/>
          </a:prstGeom>
          <a:noFill/>
        </p:spPr>
        <p:txBody>
          <a:bodyPr wrap="square">
            <a:spAutoFit/>
          </a:bodyPr>
          <a:lstStyle/>
          <a:p>
            <a:pPr algn="l">
              <a:defRPr sz="1800" b="0">
                <a:solidFill>
                  <a:srgbClr val="CCFFCC"/>
                </a:solidFill>
                <a:latin typeface="Calibri"/>
              </a:defRPr>
            </a:pPr>
            <a:r>
              <a:t>Credit Card Fraud Detection | Lloyds Banking Group</a:t>
            </a:r>
          </a:p>
        </p:txBody>
      </p:sp>
      <p:sp>
        <p:nvSpPr>
          <p:cNvPr id="6" name="TextBox 5"/>
          <p:cNvSpPr txBox="1"/>
          <p:nvPr/>
        </p:nvSpPr>
        <p:spPr>
          <a:xfrm>
            <a:off x="731520" y="3657600"/>
            <a:ext cx="10058400" cy="914400"/>
          </a:xfrm>
          <a:prstGeom prst="rect">
            <a:avLst/>
          </a:prstGeom>
          <a:noFill/>
        </p:spPr>
        <p:txBody>
          <a:bodyPr wrap="square">
            <a:spAutoFit/>
          </a:bodyPr>
          <a:lstStyle/>
          <a:p>
            <a:pPr algn="l">
              <a:defRPr sz="2200" b="0">
                <a:solidFill>
                  <a:srgbClr val="1D1D1B"/>
                </a:solidFill>
                <a:latin typeface="Calibri"/>
              </a:defRPr>
            </a:pPr>
            <a:r>
              <a:t>Can we detect fraud effectively while minimising our carbon footprint?</a:t>
            </a:r>
          </a:p>
        </p:txBody>
      </p:sp>
      <p:sp>
        <p:nvSpPr>
          <p:cNvPr id="7" name="TextBox 6"/>
          <p:cNvSpPr txBox="1"/>
          <p:nvPr/>
        </p:nvSpPr>
        <p:spPr>
          <a:xfrm>
            <a:off x="731520" y="4572000"/>
            <a:ext cx="10058400" cy="548640"/>
          </a:xfrm>
          <a:prstGeom prst="rect">
            <a:avLst/>
          </a:prstGeom>
          <a:noFill/>
        </p:spPr>
        <p:txBody>
          <a:bodyPr wrap="square">
            <a:spAutoFit/>
          </a:bodyPr>
          <a:lstStyle/>
          <a:p>
            <a:pPr algn="l">
              <a:defRPr sz="1600" b="0">
                <a:solidFill>
                  <a:srgbClr val="666666"/>
                </a:solidFill>
                <a:latin typeface="Calibri"/>
              </a:defRPr>
            </a:pPr>
            <a:r>
              <a:t>Models evaluated: Logistic Regression, Random Forest, TabNet, XGBoost, Optuna LightGBM, Flan-T5-Small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006A4D"/>
                </a:solidFill>
                <a:latin typeface="Calibri"/>
              </a:defRPr>
            </a:pPr>
            <a:r>
              <a:t>The Challenge: Credit Card Fraud Detection</a:t>
            </a:r>
          </a:p>
        </p:txBody>
      </p:sp>
      <p:sp>
        <p:nvSpPr>
          <p:cNvPr id="4" name="TextBox 3"/>
          <p:cNvSpPr txBox="1"/>
          <p:nvPr/>
        </p:nvSpPr>
        <p:spPr>
          <a:xfrm>
            <a:off x="731520" y="1371600"/>
            <a:ext cx="5029200" cy="3200400"/>
          </a:xfrm>
          <a:prstGeom prst="rect">
            <a:avLst/>
          </a:prstGeom>
          <a:noFill/>
        </p:spPr>
        <p:txBody>
          <a:bodyPr wrap="square">
            <a:spAutoFit/>
          </a:bodyPr>
          <a:lstStyle/>
          <a:p>
            <a:pPr algn="l">
              <a:defRPr sz="1600" b="0">
                <a:solidFill>
                  <a:srgbClr val="1D1D1B"/>
                </a:solidFill>
                <a:latin typeface="Calibri"/>
              </a:defRPr>
            </a:pPr>
            <a:r>
              <a:t>Credit card fraud costs UK consumers and banks billions annually. Financial institutions must detect fraudulent transactions in real time while minimising false positives that disrupt legitimate customers.</a:t>
            </a:r>
            <a:br/>
            <a:br/>
            <a:r>
              <a:t>The challenge: newer, more complex models promise better detection — but at what environmental cost?</a:t>
            </a:r>
            <a:br/>
            <a:br/>
            <a:r>
              <a:t>Our mission: compare model performance against carbon footprint and find the optimal balance.</a:t>
            </a:r>
          </a:p>
        </p:txBody>
      </p:sp>
      <p:graphicFrame>
        <p:nvGraphicFramePr>
          <p:cNvPr id="5" name="Table 4"/>
          <p:cNvGraphicFramePr>
            <a:graphicFrameLocks noGrp="1"/>
          </p:cNvGraphicFramePr>
          <p:nvPr/>
        </p:nvGraphicFramePr>
        <p:xfrm>
          <a:off x="6400800" y="1371600"/>
          <a:ext cx="5029200" cy="22860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26571">
                <a:tc>
                  <a:txBody>
                    <a:bodyPr/>
                    <a:lstStyle/>
                    <a:p>
                      <a:pPr algn="ctr">
                        <a:defRPr sz="1200" b="1">
                          <a:solidFill>
                            <a:srgbClr val="FFFFFF"/>
                          </a:solidFill>
                          <a:latin typeface="Calibri"/>
                        </a:defRPr>
                      </a:pPr>
                      <a:r>
                        <a:t>Metric</a:t>
                      </a:r>
                    </a:p>
                  </a:txBody>
                  <a:tcPr anchor="ctr">
                    <a:solidFill>
                      <a:srgbClr val="006A4D"/>
                    </a:solidFill>
                  </a:tcPr>
                </a:tc>
                <a:tc>
                  <a:txBody>
                    <a:bodyPr/>
                    <a:lstStyle/>
                    <a:p>
                      <a:pPr algn="ctr">
                        <a:defRPr sz="1200" b="1">
                          <a:solidFill>
                            <a:srgbClr val="FFFFFF"/>
                          </a:solidFill>
                          <a:latin typeface="Calibri"/>
                        </a:defRPr>
                      </a:pPr>
                      <a:r>
                        <a:t>Value</a:t>
                      </a:r>
                    </a:p>
                  </a:txBody>
                  <a:tcPr anchor="ctr">
                    <a:solidFill>
                      <a:srgbClr val="006A4D"/>
                    </a:solidFill>
                  </a:tcPr>
                </a:tc>
                <a:extLst>
                  <a:ext uri="{0D108BD9-81ED-4DB2-BD59-A6C34878D82A}">
                    <a16:rowId xmlns:a16="http://schemas.microsoft.com/office/drawing/2014/main" val="10000"/>
                  </a:ext>
                </a:extLst>
              </a:tr>
              <a:tr h="326571">
                <a:tc>
                  <a:txBody>
                    <a:bodyPr/>
                    <a:lstStyle/>
                    <a:p>
                      <a:pPr algn="ctr">
                        <a:defRPr sz="1100">
                          <a:solidFill>
                            <a:srgbClr val="1D1D1B"/>
                          </a:solidFill>
                          <a:latin typeface="Calibri"/>
                        </a:defRPr>
                      </a:pPr>
                      <a:r>
                        <a:t>Total Transactions</a:t>
                      </a:r>
                    </a:p>
                  </a:txBody>
                  <a:tcPr anchor="ctr">
                    <a:solidFill>
                      <a:srgbClr val="FFFFFF"/>
                    </a:solidFill>
                  </a:tcPr>
                </a:tc>
                <a:tc>
                  <a:txBody>
                    <a:bodyPr/>
                    <a:lstStyle/>
                    <a:p>
                      <a:pPr algn="ctr">
                        <a:defRPr sz="1100">
                          <a:solidFill>
                            <a:srgbClr val="1D1D1B"/>
                          </a:solidFill>
                          <a:latin typeface="Calibri"/>
                        </a:defRPr>
                      </a:pPr>
                      <a:r>
                        <a:t>284,807</a:t>
                      </a:r>
                    </a:p>
                  </a:txBody>
                  <a:tcPr anchor="ctr">
                    <a:solidFill>
                      <a:srgbClr val="FFFFFF"/>
                    </a:solidFill>
                  </a:tcPr>
                </a:tc>
                <a:extLst>
                  <a:ext uri="{0D108BD9-81ED-4DB2-BD59-A6C34878D82A}">
                    <a16:rowId xmlns:a16="http://schemas.microsoft.com/office/drawing/2014/main" val="10001"/>
                  </a:ext>
                </a:extLst>
              </a:tr>
              <a:tr h="326571">
                <a:tc>
                  <a:txBody>
                    <a:bodyPr/>
                    <a:lstStyle/>
                    <a:p>
                      <a:pPr algn="ctr">
                        <a:defRPr sz="1100">
                          <a:solidFill>
                            <a:srgbClr val="1D1D1B"/>
                          </a:solidFill>
                          <a:latin typeface="Calibri"/>
                        </a:defRPr>
                      </a:pPr>
                      <a:r>
                        <a:t>Fraud Cases</a:t>
                      </a:r>
                    </a:p>
                  </a:txBody>
                  <a:tcPr anchor="ctr">
                    <a:solidFill>
                      <a:srgbClr val="F2F2F2"/>
                    </a:solidFill>
                  </a:tcPr>
                </a:tc>
                <a:tc>
                  <a:txBody>
                    <a:bodyPr/>
                    <a:lstStyle/>
                    <a:p>
                      <a:pPr algn="ctr">
                        <a:defRPr sz="1100">
                          <a:solidFill>
                            <a:srgbClr val="1D1D1B"/>
                          </a:solidFill>
                          <a:latin typeface="Calibri"/>
                        </a:defRPr>
                      </a:pPr>
                      <a:r>
                        <a:t>492</a:t>
                      </a:r>
                    </a:p>
                  </a:txBody>
                  <a:tcPr anchor="ctr">
                    <a:solidFill>
                      <a:srgbClr val="F2F2F2"/>
                    </a:solidFill>
                  </a:tcPr>
                </a:tc>
                <a:extLst>
                  <a:ext uri="{0D108BD9-81ED-4DB2-BD59-A6C34878D82A}">
                    <a16:rowId xmlns:a16="http://schemas.microsoft.com/office/drawing/2014/main" val="10002"/>
                  </a:ext>
                </a:extLst>
              </a:tr>
              <a:tr h="326571">
                <a:tc>
                  <a:txBody>
                    <a:bodyPr/>
                    <a:lstStyle/>
                    <a:p>
                      <a:pPr algn="ctr">
                        <a:defRPr sz="1100">
                          <a:solidFill>
                            <a:srgbClr val="1D1D1B"/>
                          </a:solidFill>
                          <a:latin typeface="Calibri"/>
                        </a:defRPr>
                      </a:pPr>
                      <a:r>
                        <a:t>Fraud Rate</a:t>
                      </a:r>
                    </a:p>
                  </a:txBody>
                  <a:tcPr anchor="ctr">
                    <a:solidFill>
                      <a:srgbClr val="FFFFFF"/>
                    </a:solidFill>
                  </a:tcPr>
                </a:tc>
                <a:tc>
                  <a:txBody>
                    <a:bodyPr/>
                    <a:lstStyle/>
                    <a:p>
                      <a:pPr algn="ctr">
                        <a:defRPr sz="1100">
                          <a:solidFill>
                            <a:srgbClr val="1D1D1B"/>
                          </a:solidFill>
                          <a:latin typeface="Calibri"/>
                        </a:defRPr>
                      </a:pPr>
                      <a:r>
                        <a:t>0.173%</a:t>
                      </a:r>
                    </a:p>
                  </a:txBody>
                  <a:tcPr anchor="ctr">
                    <a:solidFill>
                      <a:srgbClr val="FFFFFF"/>
                    </a:solidFill>
                  </a:tcPr>
                </a:tc>
                <a:extLst>
                  <a:ext uri="{0D108BD9-81ED-4DB2-BD59-A6C34878D82A}">
                    <a16:rowId xmlns:a16="http://schemas.microsoft.com/office/drawing/2014/main" val="10003"/>
                  </a:ext>
                </a:extLst>
              </a:tr>
              <a:tr h="326571">
                <a:tc>
                  <a:txBody>
                    <a:bodyPr/>
                    <a:lstStyle/>
                    <a:p>
                      <a:pPr algn="ctr">
                        <a:defRPr sz="1100">
                          <a:solidFill>
                            <a:srgbClr val="1D1D1B"/>
                          </a:solidFill>
                          <a:latin typeface="Calibri"/>
                        </a:defRPr>
                      </a:pPr>
                      <a:r>
                        <a:t>Features</a:t>
                      </a:r>
                    </a:p>
                  </a:txBody>
                  <a:tcPr anchor="ctr">
                    <a:solidFill>
                      <a:srgbClr val="F2F2F2"/>
                    </a:solidFill>
                  </a:tcPr>
                </a:tc>
                <a:tc>
                  <a:txBody>
                    <a:bodyPr/>
                    <a:lstStyle/>
                    <a:p>
                      <a:pPr algn="ctr">
                        <a:defRPr sz="1100">
                          <a:solidFill>
                            <a:srgbClr val="1D1D1B"/>
                          </a:solidFill>
                          <a:latin typeface="Calibri"/>
                        </a:defRPr>
                      </a:pPr>
                      <a:r>
                        <a:t>30</a:t>
                      </a:r>
                    </a:p>
                  </a:txBody>
                  <a:tcPr anchor="ctr">
                    <a:solidFill>
                      <a:srgbClr val="F2F2F2"/>
                    </a:solidFill>
                  </a:tcPr>
                </a:tc>
                <a:extLst>
                  <a:ext uri="{0D108BD9-81ED-4DB2-BD59-A6C34878D82A}">
                    <a16:rowId xmlns:a16="http://schemas.microsoft.com/office/drawing/2014/main" val="10004"/>
                  </a:ext>
                </a:extLst>
              </a:tr>
              <a:tr h="326571">
                <a:tc>
                  <a:txBody>
                    <a:bodyPr/>
                    <a:lstStyle/>
                    <a:p>
                      <a:pPr algn="ctr">
                        <a:defRPr sz="1100">
                          <a:solidFill>
                            <a:srgbClr val="1D1D1B"/>
                          </a:solidFill>
                          <a:latin typeface="Calibri"/>
                        </a:defRPr>
                      </a:pPr>
                      <a:r>
                        <a:t>PCA Components</a:t>
                      </a:r>
                    </a:p>
                  </a:txBody>
                  <a:tcPr anchor="ctr">
                    <a:solidFill>
                      <a:srgbClr val="FFFFFF"/>
                    </a:solidFill>
                  </a:tcPr>
                </a:tc>
                <a:tc>
                  <a:txBody>
                    <a:bodyPr/>
                    <a:lstStyle/>
                    <a:p>
                      <a:pPr algn="ctr">
                        <a:defRPr sz="1100">
                          <a:solidFill>
                            <a:srgbClr val="1D1D1B"/>
                          </a:solidFill>
                          <a:latin typeface="Calibri"/>
                        </a:defRPr>
                      </a:pPr>
                      <a:r>
                        <a:t>V1-V28 (anonymised)</a:t>
                      </a:r>
                    </a:p>
                  </a:txBody>
                  <a:tcPr anchor="ctr">
                    <a:solidFill>
                      <a:srgbClr val="FFFFFF"/>
                    </a:solidFill>
                  </a:tcPr>
                </a:tc>
                <a:extLst>
                  <a:ext uri="{0D108BD9-81ED-4DB2-BD59-A6C34878D82A}">
                    <a16:rowId xmlns:a16="http://schemas.microsoft.com/office/drawing/2014/main" val="10005"/>
                  </a:ext>
                </a:extLst>
              </a:tr>
              <a:tr h="326574">
                <a:tc>
                  <a:txBody>
                    <a:bodyPr/>
                    <a:lstStyle/>
                    <a:p>
                      <a:pPr algn="ctr">
                        <a:defRPr sz="1100">
                          <a:solidFill>
                            <a:srgbClr val="1D1D1B"/>
                          </a:solidFill>
                          <a:latin typeface="Calibri"/>
                        </a:defRPr>
                      </a:pPr>
                      <a:r>
                        <a:t>Train/Test Split</a:t>
                      </a:r>
                    </a:p>
                  </a:txBody>
                  <a:tcPr anchor="ctr">
                    <a:solidFill>
                      <a:srgbClr val="F2F2F2"/>
                    </a:solidFill>
                  </a:tcPr>
                </a:tc>
                <a:tc>
                  <a:txBody>
                    <a:bodyPr/>
                    <a:lstStyle/>
                    <a:p>
                      <a:pPr algn="ctr">
                        <a:defRPr sz="1100">
                          <a:solidFill>
                            <a:srgbClr val="1D1D1B"/>
                          </a:solidFill>
                          <a:latin typeface="Calibri"/>
                        </a:defRPr>
                      </a:pPr>
                      <a:r>
                        <a:t>80% / 20%</a:t>
                      </a:r>
                    </a:p>
                  </a:txBody>
                  <a:tcPr anchor="ctr">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006A4D"/>
                </a:solidFill>
                <a:latin typeface="Calibri"/>
              </a:defRPr>
            </a:pPr>
            <a:r>
              <a:t>Classification Performance (Threshold-Tuned)</a:t>
            </a:r>
          </a:p>
        </p:txBody>
      </p:sp>
      <p:graphicFrame>
        <p:nvGraphicFramePr>
          <p:cNvPr id="4" name="Table 3"/>
          <p:cNvGraphicFramePr>
            <a:graphicFrameLocks noGrp="1"/>
          </p:cNvGraphicFramePr>
          <p:nvPr/>
        </p:nvGraphicFramePr>
        <p:xfrm>
          <a:off x="731520" y="1371600"/>
          <a:ext cx="10789920" cy="27432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91885">
                <a:tc>
                  <a:txBody>
                    <a:bodyPr/>
                    <a:lstStyle/>
                    <a:p>
                      <a:pPr algn="ctr">
                        <a:defRPr sz="1200" b="1">
                          <a:solidFill>
                            <a:srgbClr val="FFFFFF"/>
                          </a:solidFill>
                          <a:latin typeface="Calibri"/>
                        </a:defRPr>
                      </a:pPr>
                      <a:r>
                        <a:t>Model</a:t>
                      </a:r>
                    </a:p>
                  </a:txBody>
                  <a:tcPr anchor="ctr">
                    <a:solidFill>
                      <a:srgbClr val="006A4D"/>
                    </a:solidFill>
                  </a:tcPr>
                </a:tc>
                <a:tc>
                  <a:txBody>
                    <a:bodyPr/>
                    <a:lstStyle/>
                    <a:p>
                      <a:pPr algn="ctr">
                        <a:defRPr sz="1200" b="1">
                          <a:solidFill>
                            <a:srgbClr val="FFFFFF"/>
                          </a:solidFill>
                          <a:latin typeface="Calibri"/>
                        </a:defRPr>
                      </a:pPr>
                      <a:r>
                        <a:t>AUC</a:t>
                      </a:r>
                    </a:p>
                  </a:txBody>
                  <a:tcPr anchor="ctr">
                    <a:solidFill>
                      <a:srgbClr val="006A4D"/>
                    </a:solidFill>
                  </a:tcPr>
                </a:tc>
                <a:tc>
                  <a:txBody>
                    <a:bodyPr/>
                    <a:lstStyle/>
                    <a:p>
                      <a:pPr algn="ctr">
                        <a:defRPr sz="1200" b="1">
                          <a:solidFill>
                            <a:srgbClr val="FFFFFF"/>
                          </a:solidFill>
                          <a:latin typeface="Calibri"/>
                        </a:defRPr>
                      </a:pPr>
                      <a:r>
                        <a:t>F1</a:t>
                      </a:r>
                    </a:p>
                  </a:txBody>
                  <a:tcPr anchor="ctr">
                    <a:solidFill>
                      <a:srgbClr val="006A4D"/>
                    </a:solidFill>
                  </a:tcPr>
                </a:tc>
                <a:tc>
                  <a:txBody>
                    <a:bodyPr/>
                    <a:lstStyle/>
                    <a:p>
                      <a:pPr algn="ctr">
                        <a:defRPr sz="1200" b="1">
                          <a:solidFill>
                            <a:srgbClr val="FFFFFF"/>
                          </a:solidFill>
                          <a:latin typeface="Calibri"/>
                        </a:defRPr>
                      </a:pPr>
                      <a:r>
                        <a:t>Precision</a:t>
                      </a:r>
                    </a:p>
                  </a:txBody>
                  <a:tcPr anchor="ctr">
                    <a:solidFill>
                      <a:srgbClr val="006A4D"/>
                    </a:solidFill>
                  </a:tcPr>
                </a:tc>
                <a:tc>
                  <a:txBody>
                    <a:bodyPr/>
                    <a:lstStyle/>
                    <a:p>
                      <a:pPr algn="ctr">
                        <a:defRPr sz="1200" b="1">
                          <a:solidFill>
                            <a:srgbClr val="FFFFFF"/>
                          </a:solidFill>
                          <a:latin typeface="Calibri"/>
                        </a:defRPr>
                      </a:pPr>
                      <a:r>
                        <a:t>Recall</a:t>
                      </a:r>
                    </a:p>
                  </a:txBody>
                  <a:tcPr anchor="ctr">
                    <a:solidFill>
                      <a:srgbClr val="006A4D"/>
                    </a:solidFill>
                  </a:tcPr>
                </a:tc>
                <a:extLst>
                  <a:ext uri="{0D108BD9-81ED-4DB2-BD59-A6C34878D82A}">
                    <a16:rowId xmlns:a16="http://schemas.microsoft.com/office/drawing/2014/main" val="10000"/>
                  </a:ext>
                </a:extLst>
              </a:tr>
              <a:tr h="391885">
                <a:tc>
                  <a:txBody>
                    <a:bodyPr/>
                    <a:lstStyle/>
                    <a:p>
                      <a:pPr algn="ctr">
                        <a:defRPr sz="1100">
                          <a:solidFill>
                            <a:srgbClr val="1D1D1B"/>
                          </a:solidFill>
                          <a:latin typeface="Calibri"/>
                        </a:defRPr>
                      </a:pPr>
                      <a:r>
                        <a:t>Logistic Regression</a:t>
                      </a:r>
                    </a:p>
                  </a:txBody>
                  <a:tcPr anchor="ctr">
                    <a:solidFill>
                      <a:srgbClr val="FFFFFF"/>
                    </a:solidFill>
                  </a:tcPr>
                </a:tc>
                <a:tc>
                  <a:txBody>
                    <a:bodyPr/>
                    <a:lstStyle/>
                    <a:p>
                      <a:pPr algn="ctr">
                        <a:defRPr sz="1100">
                          <a:solidFill>
                            <a:srgbClr val="1D1D1B"/>
                          </a:solidFill>
                          <a:latin typeface="Calibri"/>
                        </a:defRPr>
                      </a:pPr>
                      <a:r>
                        <a:t>0.9722</a:t>
                      </a:r>
                    </a:p>
                  </a:txBody>
                  <a:tcPr anchor="ctr">
                    <a:solidFill>
                      <a:srgbClr val="FFFFFF"/>
                    </a:solidFill>
                  </a:tcPr>
                </a:tc>
                <a:tc>
                  <a:txBody>
                    <a:bodyPr/>
                    <a:lstStyle/>
                    <a:p>
                      <a:pPr algn="ctr">
                        <a:defRPr sz="1100">
                          <a:solidFill>
                            <a:srgbClr val="1D1D1B"/>
                          </a:solidFill>
                          <a:latin typeface="Calibri"/>
                        </a:defRPr>
                      </a:pPr>
                      <a:r>
                        <a:t>0.8247</a:t>
                      </a:r>
                    </a:p>
                  </a:txBody>
                  <a:tcPr anchor="ctr">
                    <a:solidFill>
                      <a:srgbClr val="FFFFFF"/>
                    </a:solidFill>
                  </a:tcPr>
                </a:tc>
                <a:tc>
                  <a:txBody>
                    <a:bodyPr/>
                    <a:lstStyle/>
                    <a:p>
                      <a:pPr algn="ctr">
                        <a:defRPr sz="1100">
                          <a:solidFill>
                            <a:srgbClr val="1D1D1B"/>
                          </a:solidFill>
                          <a:latin typeface="Calibri"/>
                        </a:defRPr>
                      </a:pPr>
                      <a:r>
                        <a:t>0.8333</a:t>
                      </a:r>
                    </a:p>
                  </a:txBody>
                  <a:tcPr anchor="ctr">
                    <a:solidFill>
                      <a:srgbClr val="FFFFFF"/>
                    </a:solidFill>
                  </a:tcPr>
                </a:tc>
                <a:tc>
                  <a:txBody>
                    <a:bodyPr/>
                    <a:lstStyle/>
                    <a:p>
                      <a:pPr algn="ctr">
                        <a:defRPr sz="1100">
                          <a:solidFill>
                            <a:srgbClr val="1D1D1B"/>
                          </a:solidFill>
                          <a:latin typeface="Calibri"/>
                        </a:defRPr>
                      </a:pPr>
                      <a:r>
                        <a:t>0.8163</a:t>
                      </a:r>
                    </a:p>
                  </a:txBody>
                  <a:tcPr anchor="ctr">
                    <a:solidFill>
                      <a:srgbClr val="FFFFFF"/>
                    </a:solidFill>
                  </a:tcPr>
                </a:tc>
                <a:extLst>
                  <a:ext uri="{0D108BD9-81ED-4DB2-BD59-A6C34878D82A}">
                    <a16:rowId xmlns:a16="http://schemas.microsoft.com/office/drawing/2014/main" val="10001"/>
                  </a:ext>
                </a:extLst>
              </a:tr>
              <a:tr h="391885">
                <a:tc>
                  <a:txBody>
                    <a:bodyPr/>
                    <a:lstStyle/>
                    <a:p>
                      <a:pPr algn="ctr">
                        <a:defRPr sz="1100">
                          <a:solidFill>
                            <a:srgbClr val="1D1D1B"/>
                          </a:solidFill>
                          <a:latin typeface="Calibri"/>
                        </a:defRPr>
                      </a:pPr>
                      <a:r>
                        <a:t>Random Forest</a:t>
                      </a:r>
                    </a:p>
                  </a:txBody>
                  <a:tcPr anchor="ctr">
                    <a:solidFill>
                      <a:srgbClr val="F2F2F2"/>
                    </a:solidFill>
                  </a:tcPr>
                </a:tc>
                <a:tc>
                  <a:txBody>
                    <a:bodyPr/>
                    <a:lstStyle/>
                    <a:p>
                      <a:pPr algn="ctr">
                        <a:defRPr sz="1100">
                          <a:solidFill>
                            <a:srgbClr val="1D1D1B"/>
                          </a:solidFill>
                          <a:latin typeface="Calibri"/>
                        </a:defRPr>
                      </a:pPr>
                      <a:r>
                        <a:t>0.9530</a:t>
                      </a:r>
                    </a:p>
                  </a:txBody>
                  <a:tcPr anchor="ctr">
                    <a:solidFill>
                      <a:srgbClr val="F2F2F2"/>
                    </a:solidFill>
                  </a:tcPr>
                </a:tc>
                <a:tc>
                  <a:txBody>
                    <a:bodyPr/>
                    <a:lstStyle/>
                    <a:p>
                      <a:pPr algn="ctr">
                        <a:defRPr sz="1100">
                          <a:solidFill>
                            <a:srgbClr val="1D1D1B"/>
                          </a:solidFill>
                          <a:latin typeface="Calibri"/>
                        </a:defRPr>
                      </a:pPr>
                      <a:r>
                        <a:t>0.8817</a:t>
                      </a:r>
                    </a:p>
                  </a:txBody>
                  <a:tcPr anchor="ctr">
                    <a:solidFill>
                      <a:srgbClr val="F2F2F2"/>
                    </a:solidFill>
                  </a:tcPr>
                </a:tc>
                <a:tc>
                  <a:txBody>
                    <a:bodyPr/>
                    <a:lstStyle/>
                    <a:p>
                      <a:pPr algn="ctr">
                        <a:defRPr sz="1100">
                          <a:solidFill>
                            <a:srgbClr val="1D1D1B"/>
                          </a:solidFill>
                          <a:latin typeface="Calibri"/>
                        </a:defRPr>
                      </a:pPr>
                      <a:r>
                        <a:t>0.9318</a:t>
                      </a:r>
                    </a:p>
                  </a:txBody>
                  <a:tcPr anchor="ctr">
                    <a:solidFill>
                      <a:srgbClr val="F2F2F2"/>
                    </a:solidFill>
                  </a:tcPr>
                </a:tc>
                <a:tc>
                  <a:txBody>
                    <a:bodyPr/>
                    <a:lstStyle/>
                    <a:p>
                      <a:pPr algn="ctr">
                        <a:defRPr sz="1100">
                          <a:solidFill>
                            <a:srgbClr val="1D1D1B"/>
                          </a:solidFill>
                          <a:latin typeface="Calibri"/>
                        </a:defRPr>
                      </a:pPr>
                      <a:r>
                        <a:t>0.8367</a:t>
                      </a:r>
                    </a:p>
                  </a:txBody>
                  <a:tcPr anchor="ctr">
                    <a:solidFill>
                      <a:srgbClr val="F2F2F2"/>
                    </a:solidFill>
                  </a:tcPr>
                </a:tc>
                <a:extLst>
                  <a:ext uri="{0D108BD9-81ED-4DB2-BD59-A6C34878D82A}">
                    <a16:rowId xmlns:a16="http://schemas.microsoft.com/office/drawing/2014/main" val="10002"/>
                  </a:ext>
                </a:extLst>
              </a:tr>
              <a:tr h="391885">
                <a:tc>
                  <a:txBody>
                    <a:bodyPr/>
                    <a:lstStyle/>
                    <a:p>
                      <a:pPr algn="ctr">
                        <a:defRPr sz="1100">
                          <a:solidFill>
                            <a:srgbClr val="1D1D1B"/>
                          </a:solidFill>
                          <a:latin typeface="Calibri"/>
                        </a:defRPr>
                      </a:pPr>
                      <a:r>
                        <a:t>TabNet</a:t>
                      </a:r>
                    </a:p>
                  </a:txBody>
                  <a:tcPr anchor="ctr">
                    <a:solidFill>
                      <a:srgbClr val="FFFFFF"/>
                    </a:solidFill>
                  </a:tcPr>
                </a:tc>
                <a:tc>
                  <a:txBody>
                    <a:bodyPr/>
                    <a:lstStyle/>
                    <a:p>
                      <a:pPr algn="ctr">
                        <a:defRPr sz="1100">
                          <a:solidFill>
                            <a:srgbClr val="1D1D1B"/>
                          </a:solidFill>
                          <a:latin typeface="Calibri"/>
                        </a:defRPr>
                      </a:pPr>
                      <a:r>
                        <a:t>0.9824</a:t>
                      </a:r>
                    </a:p>
                  </a:txBody>
                  <a:tcPr anchor="ctr">
                    <a:solidFill>
                      <a:srgbClr val="FFFFFF"/>
                    </a:solidFill>
                  </a:tcPr>
                </a:tc>
                <a:tc>
                  <a:txBody>
                    <a:bodyPr/>
                    <a:lstStyle/>
                    <a:p>
                      <a:pPr algn="ctr">
                        <a:defRPr sz="1100">
                          <a:solidFill>
                            <a:srgbClr val="1D1D1B"/>
                          </a:solidFill>
                          <a:latin typeface="Calibri"/>
                        </a:defRPr>
                      </a:pPr>
                      <a:r>
                        <a:t>0.7745</a:t>
                      </a:r>
                    </a:p>
                  </a:txBody>
                  <a:tcPr anchor="ctr">
                    <a:solidFill>
                      <a:srgbClr val="FFFFFF"/>
                    </a:solidFill>
                  </a:tcPr>
                </a:tc>
                <a:tc>
                  <a:txBody>
                    <a:bodyPr/>
                    <a:lstStyle/>
                    <a:p>
                      <a:pPr algn="ctr">
                        <a:defRPr sz="1100">
                          <a:solidFill>
                            <a:srgbClr val="1D1D1B"/>
                          </a:solidFill>
                          <a:latin typeface="Calibri"/>
                        </a:defRPr>
                      </a:pPr>
                      <a:r>
                        <a:t>0.7453</a:t>
                      </a:r>
                    </a:p>
                  </a:txBody>
                  <a:tcPr anchor="ctr">
                    <a:solidFill>
                      <a:srgbClr val="FFFFFF"/>
                    </a:solidFill>
                  </a:tcPr>
                </a:tc>
                <a:tc>
                  <a:txBody>
                    <a:bodyPr/>
                    <a:lstStyle/>
                    <a:p>
                      <a:pPr algn="ctr">
                        <a:defRPr sz="1100">
                          <a:solidFill>
                            <a:srgbClr val="1D1D1B"/>
                          </a:solidFill>
                          <a:latin typeface="Calibri"/>
                        </a:defRPr>
                      </a:pPr>
                      <a:r>
                        <a:t>0.8061</a:t>
                      </a:r>
                    </a:p>
                  </a:txBody>
                  <a:tcPr anchor="ctr">
                    <a:solidFill>
                      <a:srgbClr val="FFFFFF"/>
                    </a:solidFill>
                  </a:tcPr>
                </a:tc>
                <a:extLst>
                  <a:ext uri="{0D108BD9-81ED-4DB2-BD59-A6C34878D82A}">
                    <a16:rowId xmlns:a16="http://schemas.microsoft.com/office/drawing/2014/main" val="10003"/>
                  </a:ext>
                </a:extLst>
              </a:tr>
              <a:tr h="391885">
                <a:tc>
                  <a:txBody>
                    <a:bodyPr/>
                    <a:lstStyle/>
                    <a:p>
                      <a:pPr algn="ctr">
                        <a:defRPr sz="1100">
                          <a:solidFill>
                            <a:srgbClr val="1D1D1B"/>
                          </a:solidFill>
                          <a:latin typeface="Calibri"/>
                        </a:defRPr>
                      </a:pPr>
                      <a:r>
                        <a:t>XGBoost</a:t>
                      </a:r>
                    </a:p>
                  </a:txBody>
                  <a:tcPr anchor="ctr">
                    <a:solidFill>
                      <a:srgbClr val="F2F2F2"/>
                    </a:solidFill>
                  </a:tcPr>
                </a:tc>
                <a:tc>
                  <a:txBody>
                    <a:bodyPr/>
                    <a:lstStyle/>
                    <a:p>
                      <a:pPr algn="ctr">
                        <a:defRPr sz="1100">
                          <a:solidFill>
                            <a:srgbClr val="1D1D1B"/>
                          </a:solidFill>
                          <a:latin typeface="Calibri"/>
                        </a:defRPr>
                      </a:pPr>
                      <a:r>
                        <a:t>0.9737</a:t>
                      </a:r>
                    </a:p>
                  </a:txBody>
                  <a:tcPr anchor="ctr">
                    <a:solidFill>
                      <a:srgbClr val="F2F2F2"/>
                    </a:solidFill>
                  </a:tcPr>
                </a:tc>
                <a:tc>
                  <a:txBody>
                    <a:bodyPr/>
                    <a:lstStyle/>
                    <a:p>
                      <a:pPr algn="ctr">
                        <a:defRPr sz="1100">
                          <a:solidFill>
                            <a:srgbClr val="1D1D1B"/>
                          </a:solidFill>
                          <a:latin typeface="Calibri"/>
                        </a:defRPr>
                      </a:pPr>
                      <a:r>
                        <a:t>0.8678</a:t>
                      </a:r>
                    </a:p>
                  </a:txBody>
                  <a:tcPr anchor="ctr">
                    <a:solidFill>
                      <a:srgbClr val="F2F2F2"/>
                    </a:solidFill>
                  </a:tcPr>
                </a:tc>
                <a:tc>
                  <a:txBody>
                    <a:bodyPr/>
                    <a:lstStyle/>
                    <a:p>
                      <a:pPr algn="ctr">
                        <a:defRPr sz="1100">
                          <a:solidFill>
                            <a:srgbClr val="1D1D1B"/>
                          </a:solidFill>
                          <a:latin typeface="Calibri"/>
                        </a:defRPr>
                      </a:pPr>
                      <a:r>
                        <a:t>0.8958</a:t>
                      </a:r>
                    </a:p>
                  </a:txBody>
                  <a:tcPr anchor="ctr">
                    <a:solidFill>
                      <a:srgbClr val="F2F2F2"/>
                    </a:solidFill>
                  </a:tcPr>
                </a:tc>
                <a:tc>
                  <a:txBody>
                    <a:bodyPr/>
                    <a:lstStyle/>
                    <a:p>
                      <a:pPr algn="ctr">
                        <a:defRPr sz="1100">
                          <a:solidFill>
                            <a:srgbClr val="1D1D1B"/>
                          </a:solidFill>
                          <a:latin typeface="Calibri"/>
                        </a:defRPr>
                      </a:pPr>
                      <a:r>
                        <a:t>0.8367</a:t>
                      </a:r>
                    </a:p>
                  </a:txBody>
                  <a:tcPr anchor="ctr">
                    <a:solidFill>
                      <a:srgbClr val="F2F2F2"/>
                    </a:solidFill>
                  </a:tcPr>
                </a:tc>
                <a:extLst>
                  <a:ext uri="{0D108BD9-81ED-4DB2-BD59-A6C34878D82A}">
                    <a16:rowId xmlns:a16="http://schemas.microsoft.com/office/drawing/2014/main" val="10004"/>
                  </a:ext>
                </a:extLst>
              </a:tr>
              <a:tr h="391885">
                <a:tc>
                  <a:txBody>
                    <a:bodyPr/>
                    <a:lstStyle/>
                    <a:p>
                      <a:pPr algn="ctr">
                        <a:defRPr sz="1100">
                          <a:solidFill>
                            <a:srgbClr val="1D1D1B"/>
                          </a:solidFill>
                          <a:latin typeface="Calibri"/>
                        </a:defRPr>
                      </a:pPr>
                      <a:r>
                        <a:t>Optuna LightGBM</a:t>
                      </a:r>
                    </a:p>
                  </a:txBody>
                  <a:tcPr anchor="ctr">
                    <a:solidFill>
                      <a:srgbClr val="FFFFFF"/>
                    </a:solidFill>
                  </a:tcPr>
                </a:tc>
                <a:tc>
                  <a:txBody>
                    <a:bodyPr/>
                    <a:lstStyle/>
                    <a:p>
                      <a:pPr algn="ctr">
                        <a:defRPr sz="1100">
                          <a:solidFill>
                            <a:srgbClr val="1D1D1B"/>
                          </a:solidFill>
                          <a:latin typeface="Calibri"/>
                        </a:defRPr>
                      </a:pPr>
                      <a:r>
                        <a:t>0.9916</a:t>
                      </a:r>
                    </a:p>
                  </a:txBody>
                  <a:tcPr anchor="ctr">
                    <a:solidFill>
                      <a:srgbClr val="FFFFFF"/>
                    </a:solidFill>
                  </a:tcPr>
                </a:tc>
                <a:tc>
                  <a:txBody>
                    <a:bodyPr/>
                    <a:lstStyle/>
                    <a:p>
                      <a:pPr algn="ctr">
                        <a:defRPr sz="1100">
                          <a:solidFill>
                            <a:srgbClr val="1D1D1B"/>
                          </a:solidFill>
                          <a:latin typeface="Calibri"/>
                        </a:defRPr>
                      </a:pPr>
                      <a:r>
                        <a:t>0.6781</a:t>
                      </a:r>
                    </a:p>
                  </a:txBody>
                  <a:tcPr anchor="ctr">
                    <a:solidFill>
                      <a:srgbClr val="FFFFFF"/>
                    </a:solidFill>
                  </a:tcPr>
                </a:tc>
                <a:tc>
                  <a:txBody>
                    <a:bodyPr/>
                    <a:lstStyle/>
                    <a:p>
                      <a:pPr algn="ctr">
                        <a:defRPr sz="1100">
                          <a:solidFill>
                            <a:srgbClr val="1D1D1B"/>
                          </a:solidFill>
                          <a:latin typeface="Calibri"/>
                        </a:defRPr>
                      </a:pPr>
                      <a:r>
                        <a:t>0.5852</a:t>
                      </a:r>
                    </a:p>
                  </a:txBody>
                  <a:tcPr anchor="ctr">
                    <a:solidFill>
                      <a:srgbClr val="FFFFFF"/>
                    </a:solidFill>
                  </a:tcPr>
                </a:tc>
                <a:tc>
                  <a:txBody>
                    <a:bodyPr/>
                    <a:lstStyle/>
                    <a:p>
                      <a:pPr algn="ctr">
                        <a:defRPr sz="1100">
                          <a:solidFill>
                            <a:srgbClr val="1D1D1B"/>
                          </a:solidFill>
                          <a:latin typeface="Calibri"/>
                        </a:defRPr>
                      </a:pPr>
                      <a:r>
                        <a:t>0.8061</a:t>
                      </a:r>
                    </a:p>
                  </a:txBody>
                  <a:tcPr anchor="ctr">
                    <a:solidFill>
                      <a:srgbClr val="FFFFFF"/>
                    </a:solidFill>
                  </a:tcPr>
                </a:tc>
                <a:extLst>
                  <a:ext uri="{0D108BD9-81ED-4DB2-BD59-A6C34878D82A}">
                    <a16:rowId xmlns:a16="http://schemas.microsoft.com/office/drawing/2014/main" val="10005"/>
                  </a:ext>
                </a:extLst>
              </a:tr>
              <a:tr h="391890">
                <a:tc>
                  <a:txBody>
                    <a:bodyPr/>
                    <a:lstStyle/>
                    <a:p>
                      <a:pPr algn="ctr">
                        <a:defRPr sz="1100">
                          <a:solidFill>
                            <a:srgbClr val="1D1D1B"/>
                          </a:solidFill>
                          <a:latin typeface="Calibri"/>
                        </a:defRPr>
                      </a:pPr>
                      <a:r>
                        <a:t>Flan-T5-Small</a:t>
                      </a:r>
                    </a:p>
                  </a:txBody>
                  <a:tcPr anchor="ctr">
                    <a:solidFill>
                      <a:srgbClr val="F2F2F2"/>
                    </a:solidFill>
                  </a:tcPr>
                </a:tc>
                <a:tc>
                  <a:txBody>
                    <a:bodyPr/>
                    <a:lstStyle/>
                    <a:p>
                      <a:pPr algn="ctr">
                        <a:defRPr sz="1100">
                          <a:solidFill>
                            <a:srgbClr val="1D1D1B"/>
                          </a:solidFill>
                          <a:latin typeface="Calibri"/>
                        </a:defRPr>
                      </a:pPr>
                      <a:r>
                        <a:t>N/A</a:t>
                      </a:r>
                    </a:p>
                  </a:txBody>
                  <a:tcPr anchor="ctr">
                    <a:solidFill>
                      <a:srgbClr val="F2F2F2"/>
                    </a:solidFill>
                  </a:tcPr>
                </a:tc>
                <a:tc>
                  <a:txBody>
                    <a:bodyPr/>
                    <a:lstStyle/>
                    <a:p>
                      <a:pPr algn="ctr">
                        <a:defRPr sz="1100">
                          <a:solidFill>
                            <a:srgbClr val="1D1D1B"/>
                          </a:solidFill>
                          <a:latin typeface="Calibri"/>
                        </a:defRPr>
                      </a:pPr>
                      <a:r>
                        <a:t>0.0000</a:t>
                      </a:r>
                    </a:p>
                  </a:txBody>
                  <a:tcPr anchor="ctr">
                    <a:solidFill>
                      <a:srgbClr val="F2F2F2"/>
                    </a:solidFill>
                  </a:tcPr>
                </a:tc>
                <a:tc>
                  <a:txBody>
                    <a:bodyPr/>
                    <a:lstStyle/>
                    <a:p>
                      <a:pPr algn="ctr">
                        <a:defRPr sz="1100">
                          <a:solidFill>
                            <a:srgbClr val="1D1D1B"/>
                          </a:solidFill>
                          <a:latin typeface="Calibri"/>
                        </a:defRPr>
                      </a:pPr>
                      <a:r>
                        <a:t>0.0000</a:t>
                      </a:r>
                    </a:p>
                  </a:txBody>
                  <a:tcPr anchor="ctr">
                    <a:solidFill>
                      <a:srgbClr val="F2F2F2"/>
                    </a:solidFill>
                  </a:tcPr>
                </a:tc>
                <a:tc>
                  <a:txBody>
                    <a:bodyPr/>
                    <a:lstStyle/>
                    <a:p>
                      <a:pPr algn="ctr">
                        <a:defRPr sz="1100">
                          <a:solidFill>
                            <a:srgbClr val="1D1D1B"/>
                          </a:solidFill>
                          <a:latin typeface="Calibri"/>
                        </a:defRPr>
                      </a:pPr>
                      <a:r>
                        <a:t>0.0000</a:t>
                      </a:r>
                    </a:p>
                  </a:txBody>
                  <a:tcPr anchor="ctr">
                    <a:solidFill>
                      <a:srgbClr val="F2F2F2"/>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731520" y="4572000"/>
            <a:ext cx="10058400" cy="1828800"/>
          </a:xfrm>
          <a:prstGeom prst="rect">
            <a:avLst/>
          </a:prstGeom>
          <a:noFill/>
        </p:spPr>
        <p:txBody>
          <a:bodyPr wrap="square">
            <a:spAutoFit/>
          </a:bodyPr>
          <a:lstStyle/>
          <a:p>
            <a:pPr algn="l">
              <a:defRPr sz="1400" b="0">
                <a:solidFill>
                  <a:srgbClr val="1D1D1B"/>
                </a:solidFill>
                <a:latin typeface="Calibri"/>
              </a:defRPr>
            </a:pPr>
            <a:r>
              <a:t>Key Observations:</a:t>
            </a:r>
            <a:br/>
            <a:r>
              <a:t>  - XGBoost achieves the best F1 (0.87) with excellent precision (0.90) and low carbon</a:t>
            </a:r>
            <a:br/>
            <a:r>
              <a:t>  - Random Forest is close behind (F1=0.88) — both gradient boosting models dominate</a:t>
            </a:r>
            <a:br/>
            <a:r>
              <a:t>  - TabNet has the highest AUC (0.98) but lower F1 — AUC alone is misleading for imbalanced data</a:t>
            </a:r>
            <a:br/>
            <a:r>
              <a:t>  - Flan-T5 completely fails (F1=0.00) — generative models are wrong for tabular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006A4D"/>
                </a:solidFill>
                <a:latin typeface="Calibri"/>
              </a:defRPr>
            </a:pPr>
            <a:r>
              <a:t>Performance Comparison</a:t>
            </a:r>
          </a:p>
        </p:txBody>
      </p:sp>
      <p:graphicFrame>
        <p:nvGraphicFramePr>
          <p:cNvPr id="4" name="Chart 3"/>
          <p:cNvGraphicFramePr>
            <a:graphicFrameLocks noGrp="1"/>
          </p:cNvGraphicFramePr>
          <p:nvPr/>
        </p:nvGraphicFramePr>
        <p:xfrm>
          <a:off x="457200" y="1371600"/>
          <a:ext cx="5486400" cy="47548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p:cNvGraphicFramePr>
            <a:graphicFrameLocks noGrp="1"/>
          </p:cNvGraphicFramePr>
          <p:nvPr/>
        </p:nvGraphicFramePr>
        <p:xfrm>
          <a:off x="6217920" y="1371600"/>
          <a:ext cx="5486400" cy="47548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006A4D"/>
                </a:solidFill>
                <a:latin typeface="Calibri"/>
              </a:defRPr>
            </a:pPr>
            <a:r>
              <a:t>Environmental Impact</a:t>
            </a:r>
          </a:p>
        </p:txBody>
      </p:sp>
      <p:graphicFrame>
        <p:nvGraphicFramePr>
          <p:cNvPr id="4" name="Table 3"/>
          <p:cNvGraphicFramePr>
            <a:graphicFrameLocks noGrp="1"/>
          </p:cNvGraphicFramePr>
          <p:nvPr/>
        </p:nvGraphicFramePr>
        <p:xfrm>
          <a:off x="274320" y="1371600"/>
          <a:ext cx="11612880" cy="2743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391885">
                <a:tc>
                  <a:txBody>
                    <a:bodyPr/>
                    <a:lstStyle/>
                    <a:p>
                      <a:pPr algn="ctr">
                        <a:defRPr sz="1200" b="1">
                          <a:solidFill>
                            <a:srgbClr val="FFFFFF"/>
                          </a:solidFill>
                          <a:latin typeface="Calibri"/>
                        </a:defRPr>
                      </a:pPr>
                      <a:r>
                        <a:t>Model</a:t>
                      </a:r>
                    </a:p>
                  </a:txBody>
                  <a:tcPr anchor="ctr">
                    <a:solidFill>
                      <a:srgbClr val="006A4D"/>
                    </a:solidFill>
                  </a:tcPr>
                </a:tc>
                <a:tc>
                  <a:txBody>
                    <a:bodyPr/>
                    <a:lstStyle/>
                    <a:p>
                      <a:pPr algn="ctr">
                        <a:defRPr sz="1200" b="1">
                          <a:solidFill>
                            <a:srgbClr val="FFFFFF"/>
                          </a:solidFill>
                          <a:latin typeface="Calibri"/>
                        </a:defRPr>
                      </a:pPr>
                      <a:r>
                        <a:t>Train Time (s)</a:t>
                      </a:r>
                    </a:p>
                  </a:txBody>
                  <a:tcPr anchor="ctr">
                    <a:solidFill>
                      <a:srgbClr val="006A4D"/>
                    </a:solidFill>
                  </a:tcPr>
                </a:tc>
                <a:tc>
                  <a:txBody>
                    <a:bodyPr/>
                    <a:lstStyle/>
                    <a:p>
                      <a:pPr algn="ctr">
                        <a:defRPr sz="1200" b="1">
                          <a:solidFill>
                            <a:srgbClr val="FFFFFF"/>
                          </a:solidFill>
                          <a:latin typeface="Calibri"/>
                        </a:defRPr>
                      </a:pPr>
                      <a:r>
                        <a:t>Train kWh</a:t>
                      </a:r>
                    </a:p>
                  </a:txBody>
                  <a:tcPr anchor="ctr">
                    <a:solidFill>
                      <a:srgbClr val="006A4D"/>
                    </a:solidFill>
                  </a:tcPr>
                </a:tc>
                <a:tc>
                  <a:txBody>
                    <a:bodyPr/>
                    <a:lstStyle/>
                    <a:p>
                      <a:pPr algn="ctr">
                        <a:defRPr sz="1200" b="1">
                          <a:solidFill>
                            <a:srgbClr val="FFFFFF"/>
                          </a:solidFill>
                          <a:latin typeface="Calibri"/>
                        </a:defRPr>
                      </a:pPr>
                      <a:r>
                        <a:t>Train CO₂e (kg)</a:t>
                      </a:r>
                    </a:p>
                  </a:txBody>
                  <a:tcPr anchor="ctr">
                    <a:solidFill>
                      <a:srgbClr val="006A4D"/>
                    </a:solidFill>
                  </a:tcPr>
                </a:tc>
                <a:tc>
                  <a:txBody>
                    <a:bodyPr/>
                    <a:lstStyle/>
                    <a:p>
                      <a:pPr algn="ctr">
                        <a:defRPr sz="1200" b="1">
                          <a:solidFill>
                            <a:srgbClr val="FFFFFF"/>
                          </a:solidFill>
                          <a:latin typeface="Calibri"/>
                        </a:defRPr>
                      </a:pPr>
                      <a:r>
                        <a:t>Inference CO₂e per 1k (g)</a:t>
                      </a:r>
                    </a:p>
                  </a:txBody>
                  <a:tcPr anchor="ctr">
                    <a:solidFill>
                      <a:srgbClr val="006A4D"/>
                    </a:solidFill>
                  </a:tcPr>
                </a:tc>
                <a:extLst>
                  <a:ext uri="{0D108BD9-81ED-4DB2-BD59-A6C34878D82A}">
                    <a16:rowId xmlns:a16="http://schemas.microsoft.com/office/drawing/2014/main" val="10000"/>
                  </a:ext>
                </a:extLst>
              </a:tr>
              <a:tr h="391885">
                <a:tc>
                  <a:txBody>
                    <a:bodyPr/>
                    <a:lstStyle/>
                    <a:p>
                      <a:pPr algn="ctr">
                        <a:defRPr sz="1100">
                          <a:solidFill>
                            <a:srgbClr val="1D1D1B"/>
                          </a:solidFill>
                          <a:latin typeface="Calibri"/>
                        </a:defRPr>
                      </a:pPr>
                      <a:r>
                        <a:t>Logistic Regression</a:t>
                      </a:r>
                    </a:p>
                  </a:txBody>
                  <a:tcPr anchor="ctr">
                    <a:solidFill>
                      <a:srgbClr val="FFFFFF"/>
                    </a:solidFill>
                  </a:tcPr>
                </a:tc>
                <a:tc>
                  <a:txBody>
                    <a:bodyPr/>
                    <a:lstStyle/>
                    <a:p>
                      <a:pPr algn="ctr">
                        <a:defRPr sz="1100">
                          <a:solidFill>
                            <a:srgbClr val="1D1D1B"/>
                          </a:solidFill>
                          <a:latin typeface="Calibri"/>
                        </a:defRPr>
                      </a:pPr>
                      <a:r>
                        <a:t>0.2</a:t>
                      </a:r>
                    </a:p>
                  </a:txBody>
                  <a:tcPr anchor="ctr">
                    <a:solidFill>
                      <a:srgbClr val="FFFFFF"/>
                    </a:solidFill>
                  </a:tcPr>
                </a:tc>
                <a:tc>
                  <a:txBody>
                    <a:bodyPr/>
                    <a:lstStyle/>
                    <a:p>
                      <a:pPr algn="ctr">
                        <a:defRPr sz="1100">
                          <a:solidFill>
                            <a:srgbClr val="1D1D1B"/>
                          </a:solidFill>
                          <a:latin typeface="Calibri"/>
                        </a:defRPr>
                      </a:pPr>
                      <a:r>
                        <a:t>0.000003</a:t>
                      </a:r>
                    </a:p>
                  </a:txBody>
                  <a:tcPr anchor="ctr">
                    <a:solidFill>
                      <a:srgbClr val="FFFFFF"/>
                    </a:solidFill>
                  </a:tcPr>
                </a:tc>
                <a:tc>
                  <a:txBody>
                    <a:bodyPr/>
                    <a:lstStyle/>
                    <a:p>
                      <a:pPr algn="ctr">
                        <a:defRPr sz="1100">
                          <a:solidFill>
                            <a:srgbClr val="1D1D1B"/>
                          </a:solidFill>
                          <a:latin typeface="Calibri"/>
                        </a:defRPr>
                      </a:pPr>
                      <a:r>
                        <a:t>0.000001</a:t>
                      </a:r>
                    </a:p>
                  </a:txBody>
                  <a:tcPr anchor="ctr">
                    <a:solidFill>
                      <a:srgbClr val="FFFFFF"/>
                    </a:solidFill>
                  </a:tcPr>
                </a:tc>
                <a:tc>
                  <a:txBody>
                    <a:bodyPr/>
                    <a:lstStyle/>
                    <a:p>
                      <a:pPr algn="ctr">
                        <a:defRPr sz="1100">
                          <a:solidFill>
                            <a:srgbClr val="1D1D1B"/>
                          </a:solidFill>
                          <a:latin typeface="Calibri"/>
                        </a:defRPr>
                      </a:pPr>
                      <a:r>
                        <a:t>0.000000</a:t>
                      </a:r>
                    </a:p>
                  </a:txBody>
                  <a:tcPr anchor="ctr">
                    <a:solidFill>
                      <a:srgbClr val="FFFFFF"/>
                    </a:solidFill>
                  </a:tcPr>
                </a:tc>
                <a:extLst>
                  <a:ext uri="{0D108BD9-81ED-4DB2-BD59-A6C34878D82A}">
                    <a16:rowId xmlns:a16="http://schemas.microsoft.com/office/drawing/2014/main" val="10001"/>
                  </a:ext>
                </a:extLst>
              </a:tr>
              <a:tr h="391885">
                <a:tc>
                  <a:txBody>
                    <a:bodyPr/>
                    <a:lstStyle/>
                    <a:p>
                      <a:pPr algn="ctr">
                        <a:defRPr sz="1100">
                          <a:solidFill>
                            <a:srgbClr val="1D1D1B"/>
                          </a:solidFill>
                          <a:latin typeface="Calibri"/>
                        </a:defRPr>
                      </a:pPr>
                      <a:r>
                        <a:t>Random Forest</a:t>
                      </a:r>
                    </a:p>
                  </a:txBody>
                  <a:tcPr anchor="ctr">
                    <a:solidFill>
                      <a:srgbClr val="F2F2F2"/>
                    </a:solidFill>
                  </a:tcPr>
                </a:tc>
                <a:tc>
                  <a:txBody>
                    <a:bodyPr/>
                    <a:lstStyle/>
                    <a:p>
                      <a:pPr algn="ctr">
                        <a:defRPr sz="1100">
                          <a:solidFill>
                            <a:srgbClr val="1D1D1B"/>
                          </a:solidFill>
                          <a:latin typeface="Calibri"/>
                        </a:defRPr>
                      </a:pPr>
                      <a:r>
                        <a:t>17.8</a:t>
                      </a:r>
                    </a:p>
                  </a:txBody>
                  <a:tcPr anchor="ctr">
                    <a:solidFill>
                      <a:srgbClr val="F2F2F2"/>
                    </a:solidFill>
                  </a:tcPr>
                </a:tc>
                <a:tc>
                  <a:txBody>
                    <a:bodyPr/>
                    <a:lstStyle/>
                    <a:p>
                      <a:pPr algn="ctr">
                        <a:defRPr sz="1100">
                          <a:solidFill>
                            <a:srgbClr val="1D1D1B"/>
                          </a:solidFill>
                          <a:latin typeface="Calibri"/>
                        </a:defRPr>
                      </a:pPr>
                      <a:r>
                        <a:t>0.000225</a:t>
                      </a:r>
                    </a:p>
                  </a:txBody>
                  <a:tcPr anchor="ctr">
                    <a:solidFill>
                      <a:srgbClr val="F2F2F2"/>
                    </a:solidFill>
                  </a:tcPr>
                </a:tc>
                <a:tc>
                  <a:txBody>
                    <a:bodyPr/>
                    <a:lstStyle/>
                    <a:p>
                      <a:pPr algn="ctr">
                        <a:defRPr sz="1100">
                          <a:solidFill>
                            <a:srgbClr val="1D1D1B"/>
                          </a:solidFill>
                          <a:latin typeface="Calibri"/>
                        </a:defRPr>
                      </a:pPr>
                      <a:r>
                        <a:t>0.000053</a:t>
                      </a:r>
                    </a:p>
                  </a:txBody>
                  <a:tcPr anchor="ctr">
                    <a:solidFill>
                      <a:srgbClr val="F2F2F2"/>
                    </a:solidFill>
                  </a:tcPr>
                </a:tc>
                <a:tc>
                  <a:txBody>
                    <a:bodyPr/>
                    <a:lstStyle/>
                    <a:p>
                      <a:pPr algn="ctr">
                        <a:defRPr sz="1100">
                          <a:solidFill>
                            <a:srgbClr val="1D1D1B"/>
                          </a:solidFill>
                          <a:latin typeface="Calibri"/>
                        </a:defRPr>
                      </a:pPr>
                      <a:r>
                        <a:t>0.000002</a:t>
                      </a:r>
                    </a:p>
                  </a:txBody>
                  <a:tcPr anchor="ctr">
                    <a:solidFill>
                      <a:srgbClr val="F2F2F2"/>
                    </a:solidFill>
                  </a:tcPr>
                </a:tc>
                <a:extLst>
                  <a:ext uri="{0D108BD9-81ED-4DB2-BD59-A6C34878D82A}">
                    <a16:rowId xmlns:a16="http://schemas.microsoft.com/office/drawing/2014/main" val="10002"/>
                  </a:ext>
                </a:extLst>
              </a:tr>
              <a:tr h="391885">
                <a:tc>
                  <a:txBody>
                    <a:bodyPr/>
                    <a:lstStyle/>
                    <a:p>
                      <a:pPr algn="ctr">
                        <a:defRPr sz="1100">
                          <a:solidFill>
                            <a:srgbClr val="1D1D1B"/>
                          </a:solidFill>
                          <a:latin typeface="Calibri"/>
                        </a:defRPr>
                      </a:pPr>
                      <a:r>
                        <a:t>TabNet</a:t>
                      </a:r>
                    </a:p>
                  </a:txBody>
                  <a:tcPr anchor="ctr">
                    <a:solidFill>
                      <a:srgbClr val="FFFFFF"/>
                    </a:solidFill>
                  </a:tcPr>
                </a:tc>
                <a:tc>
                  <a:txBody>
                    <a:bodyPr/>
                    <a:lstStyle/>
                    <a:p>
                      <a:pPr algn="ctr">
                        <a:defRPr sz="1100">
                          <a:solidFill>
                            <a:srgbClr val="1D1D1B"/>
                          </a:solidFill>
                          <a:latin typeface="Calibri"/>
                        </a:defRPr>
                      </a:pPr>
                      <a:r>
                        <a:t>166.7</a:t>
                      </a:r>
                    </a:p>
                  </a:txBody>
                  <a:tcPr anchor="ctr">
                    <a:solidFill>
                      <a:srgbClr val="FFFFFF"/>
                    </a:solidFill>
                  </a:tcPr>
                </a:tc>
                <a:tc>
                  <a:txBody>
                    <a:bodyPr/>
                    <a:lstStyle/>
                    <a:p>
                      <a:pPr algn="ctr">
                        <a:defRPr sz="1100">
                          <a:solidFill>
                            <a:srgbClr val="1D1D1B"/>
                          </a:solidFill>
                          <a:latin typeface="Calibri"/>
                        </a:defRPr>
                      </a:pPr>
                      <a:r>
                        <a:t>0.002107</a:t>
                      </a:r>
                    </a:p>
                  </a:txBody>
                  <a:tcPr anchor="ctr">
                    <a:solidFill>
                      <a:srgbClr val="FFFFFF"/>
                    </a:solidFill>
                  </a:tcPr>
                </a:tc>
                <a:tc>
                  <a:txBody>
                    <a:bodyPr/>
                    <a:lstStyle/>
                    <a:p>
                      <a:pPr algn="ctr">
                        <a:defRPr sz="1100">
                          <a:solidFill>
                            <a:srgbClr val="1D1D1B"/>
                          </a:solidFill>
                          <a:latin typeface="Calibri"/>
                        </a:defRPr>
                      </a:pPr>
                      <a:r>
                        <a:t>0.000501</a:t>
                      </a:r>
                    </a:p>
                  </a:txBody>
                  <a:tcPr anchor="ctr">
                    <a:solidFill>
                      <a:srgbClr val="FFFFFF"/>
                    </a:solidFill>
                  </a:tcPr>
                </a:tc>
                <a:tc>
                  <a:txBody>
                    <a:bodyPr/>
                    <a:lstStyle/>
                    <a:p>
                      <a:pPr algn="ctr">
                        <a:defRPr sz="1100">
                          <a:solidFill>
                            <a:srgbClr val="1D1D1B"/>
                          </a:solidFill>
                          <a:latin typeface="Calibri"/>
                        </a:defRPr>
                      </a:pPr>
                      <a:r>
                        <a:t>0.000031</a:t>
                      </a:r>
                    </a:p>
                  </a:txBody>
                  <a:tcPr anchor="ctr">
                    <a:solidFill>
                      <a:srgbClr val="FFFFFF"/>
                    </a:solidFill>
                  </a:tcPr>
                </a:tc>
                <a:extLst>
                  <a:ext uri="{0D108BD9-81ED-4DB2-BD59-A6C34878D82A}">
                    <a16:rowId xmlns:a16="http://schemas.microsoft.com/office/drawing/2014/main" val="10003"/>
                  </a:ext>
                </a:extLst>
              </a:tr>
              <a:tr h="391885">
                <a:tc>
                  <a:txBody>
                    <a:bodyPr/>
                    <a:lstStyle/>
                    <a:p>
                      <a:pPr algn="ctr">
                        <a:defRPr sz="1100">
                          <a:solidFill>
                            <a:srgbClr val="1D1D1B"/>
                          </a:solidFill>
                          <a:latin typeface="Calibri"/>
                        </a:defRPr>
                      </a:pPr>
                      <a:r>
                        <a:t>XGBoost</a:t>
                      </a:r>
                    </a:p>
                  </a:txBody>
                  <a:tcPr anchor="ctr">
                    <a:solidFill>
                      <a:srgbClr val="F2F2F2"/>
                    </a:solidFill>
                  </a:tcPr>
                </a:tc>
                <a:tc>
                  <a:txBody>
                    <a:bodyPr/>
                    <a:lstStyle/>
                    <a:p>
                      <a:pPr algn="ctr">
                        <a:defRPr sz="1100">
                          <a:solidFill>
                            <a:srgbClr val="1D1D1B"/>
                          </a:solidFill>
                          <a:latin typeface="Calibri"/>
                        </a:defRPr>
                      </a:pPr>
                      <a:r>
                        <a:t>13.0</a:t>
                      </a:r>
                    </a:p>
                  </a:txBody>
                  <a:tcPr anchor="ctr">
                    <a:solidFill>
                      <a:srgbClr val="F2F2F2"/>
                    </a:solidFill>
                  </a:tcPr>
                </a:tc>
                <a:tc>
                  <a:txBody>
                    <a:bodyPr/>
                    <a:lstStyle/>
                    <a:p>
                      <a:pPr algn="ctr">
                        <a:defRPr sz="1100">
                          <a:solidFill>
                            <a:srgbClr val="1D1D1B"/>
                          </a:solidFill>
                          <a:latin typeface="Calibri"/>
                        </a:defRPr>
                      </a:pPr>
                      <a:r>
                        <a:t>0.000110</a:t>
                      </a:r>
                    </a:p>
                  </a:txBody>
                  <a:tcPr anchor="ctr">
                    <a:solidFill>
                      <a:srgbClr val="F2F2F2"/>
                    </a:solidFill>
                  </a:tcPr>
                </a:tc>
                <a:tc>
                  <a:txBody>
                    <a:bodyPr/>
                    <a:lstStyle/>
                    <a:p>
                      <a:pPr algn="ctr">
                        <a:defRPr sz="1100">
                          <a:solidFill>
                            <a:srgbClr val="1D1D1B"/>
                          </a:solidFill>
                          <a:latin typeface="Calibri"/>
                        </a:defRPr>
                      </a:pPr>
                      <a:r>
                        <a:t>0.000026</a:t>
                      </a:r>
                    </a:p>
                  </a:txBody>
                  <a:tcPr anchor="ctr">
                    <a:solidFill>
                      <a:srgbClr val="F2F2F2"/>
                    </a:solidFill>
                  </a:tcPr>
                </a:tc>
                <a:tc>
                  <a:txBody>
                    <a:bodyPr/>
                    <a:lstStyle/>
                    <a:p>
                      <a:pPr algn="ctr">
                        <a:defRPr sz="1100">
                          <a:solidFill>
                            <a:srgbClr val="1D1D1B"/>
                          </a:solidFill>
                          <a:latin typeface="Calibri"/>
                        </a:defRPr>
                      </a:pPr>
                      <a:r>
                        <a:t>0.000000</a:t>
                      </a:r>
                    </a:p>
                  </a:txBody>
                  <a:tcPr anchor="ctr">
                    <a:solidFill>
                      <a:srgbClr val="F2F2F2"/>
                    </a:solidFill>
                  </a:tcPr>
                </a:tc>
                <a:extLst>
                  <a:ext uri="{0D108BD9-81ED-4DB2-BD59-A6C34878D82A}">
                    <a16:rowId xmlns:a16="http://schemas.microsoft.com/office/drawing/2014/main" val="10004"/>
                  </a:ext>
                </a:extLst>
              </a:tr>
              <a:tr h="391885">
                <a:tc>
                  <a:txBody>
                    <a:bodyPr/>
                    <a:lstStyle/>
                    <a:p>
                      <a:pPr algn="ctr">
                        <a:defRPr sz="1100">
                          <a:solidFill>
                            <a:srgbClr val="1D1D1B"/>
                          </a:solidFill>
                          <a:latin typeface="Calibri"/>
                        </a:defRPr>
                      </a:pPr>
                      <a:r>
                        <a:t>Optuna LightGBM</a:t>
                      </a:r>
                    </a:p>
                  </a:txBody>
                  <a:tcPr anchor="ctr">
                    <a:solidFill>
                      <a:srgbClr val="FFFFFF"/>
                    </a:solidFill>
                  </a:tcPr>
                </a:tc>
                <a:tc>
                  <a:txBody>
                    <a:bodyPr/>
                    <a:lstStyle/>
                    <a:p>
                      <a:pPr algn="ctr">
                        <a:defRPr sz="1100">
                          <a:solidFill>
                            <a:srgbClr val="1D1D1B"/>
                          </a:solidFill>
                          <a:latin typeface="Calibri"/>
                        </a:defRPr>
                      </a:pPr>
                      <a:r>
                        <a:t>510.5</a:t>
                      </a:r>
                    </a:p>
                  </a:txBody>
                  <a:tcPr anchor="ctr">
                    <a:solidFill>
                      <a:srgbClr val="FFFFFF"/>
                    </a:solidFill>
                  </a:tcPr>
                </a:tc>
                <a:tc>
                  <a:txBody>
                    <a:bodyPr/>
                    <a:lstStyle/>
                    <a:p>
                      <a:pPr algn="ctr">
                        <a:defRPr sz="1100">
                          <a:solidFill>
                            <a:srgbClr val="1D1D1B"/>
                          </a:solidFill>
                          <a:latin typeface="Calibri"/>
                        </a:defRPr>
                      </a:pPr>
                      <a:r>
                        <a:t>0.000196</a:t>
                      </a:r>
                    </a:p>
                  </a:txBody>
                  <a:tcPr anchor="ctr">
                    <a:solidFill>
                      <a:srgbClr val="FFFFFF"/>
                    </a:solidFill>
                  </a:tcPr>
                </a:tc>
                <a:tc>
                  <a:txBody>
                    <a:bodyPr/>
                    <a:lstStyle/>
                    <a:p>
                      <a:pPr algn="ctr">
                        <a:defRPr sz="1100">
                          <a:solidFill>
                            <a:srgbClr val="1D1D1B"/>
                          </a:solidFill>
                          <a:latin typeface="Calibri"/>
                        </a:defRPr>
                      </a:pPr>
                      <a:r>
                        <a:t>0.000700</a:t>
                      </a:r>
                    </a:p>
                  </a:txBody>
                  <a:tcPr anchor="ctr">
                    <a:solidFill>
                      <a:srgbClr val="FFFFFF"/>
                    </a:solidFill>
                  </a:tcPr>
                </a:tc>
                <a:tc>
                  <a:txBody>
                    <a:bodyPr/>
                    <a:lstStyle/>
                    <a:p>
                      <a:pPr algn="ctr">
                        <a:defRPr sz="1100">
                          <a:solidFill>
                            <a:srgbClr val="1D1D1B"/>
                          </a:solidFill>
                          <a:latin typeface="Calibri"/>
                        </a:defRPr>
                      </a:pPr>
                      <a:r>
                        <a:t>0.000001</a:t>
                      </a:r>
                    </a:p>
                  </a:txBody>
                  <a:tcPr anchor="ctr">
                    <a:solidFill>
                      <a:srgbClr val="FFFFFF"/>
                    </a:solidFill>
                  </a:tcPr>
                </a:tc>
                <a:extLst>
                  <a:ext uri="{0D108BD9-81ED-4DB2-BD59-A6C34878D82A}">
                    <a16:rowId xmlns:a16="http://schemas.microsoft.com/office/drawing/2014/main" val="10005"/>
                  </a:ext>
                </a:extLst>
              </a:tr>
              <a:tr h="391890">
                <a:tc>
                  <a:txBody>
                    <a:bodyPr/>
                    <a:lstStyle/>
                    <a:p>
                      <a:pPr algn="ctr">
                        <a:defRPr sz="1100">
                          <a:solidFill>
                            <a:srgbClr val="1D1D1B"/>
                          </a:solidFill>
                          <a:latin typeface="Calibri"/>
                        </a:defRPr>
                      </a:pPr>
                      <a:r>
                        <a:t>Flan-T5-Small</a:t>
                      </a:r>
                    </a:p>
                  </a:txBody>
                  <a:tcPr anchor="ctr">
                    <a:solidFill>
                      <a:srgbClr val="F2F2F2"/>
                    </a:solidFill>
                  </a:tcPr>
                </a:tc>
                <a:tc>
                  <a:txBody>
                    <a:bodyPr/>
                    <a:lstStyle/>
                    <a:p>
                      <a:pPr algn="ctr">
                        <a:defRPr sz="1100">
                          <a:solidFill>
                            <a:srgbClr val="1D1D1B"/>
                          </a:solidFill>
                          <a:latin typeface="Calibri"/>
                        </a:defRPr>
                      </a:pPr>
                      <a:r>
                        <a:t>1429.8</a:t>
                      </a:r>
                    </a:p>
                  </a:txBody>
                  <a:tcPr anchor="ctr">
                    <a:solidFill>
                      <a:srgbClr val="F2F2F2"/>
                    </a:solidFill>
                  </a:tcPr>
                </a:tc>
                <a:tc>
                  <a:txBody>
                    <a:bodyPr/>
                    <a:lstStyle/>
                    <a:p>
                      <a:pPr algn="ctr">
                        <a:defRPr sz="1100">
                          <a:solidFill>
                            <a:srgbClr val="1D1D1B"/>
                          </a:solidFill>
                          <a:latin typeface="Calibri"/>
                        </a:defRPr>
                      </a:pPr>
                      <a:r>
                        <a:t>0.018071</a:t>
                      </a:r>
                    </a:p>
                  </a:txBody>
                  <a:tcPr anchor="ctr">
                    <a:solidFill>
                      <a:srgbClr val="F2F2F2"/>
                    </a:solidFill>
                  </a:tcPr>
                </a:tc>
                <a:tc>
                  <a:txBody>
                    <a:bodyPr/>
                    <a:lstStyle/>
                    <a:p>
                      <a:pPr algn="ctr">
                        <a:defRPr sz="1100">
                          <a:solidFill>
                            <a:srgbClr val="1D1D1B"/>
                          </a:solidFill>
                          <a:latin typeface="Calibri"/>
                        </a:defRPr>
                      </a:pPr>
                      <a:r>
                        <a:t>0.004293</a:t>
                      </a:r>
                    </a:p>
                  </a:txBody>
                  <a:tcPr anchor="ctr">
                    <a:solidFill>
                      <a:srgbClr val="F2F2F2"/>
                    </a:solidFill>
                  </a:tcPr>
                </a:tc>
                <a:tc>
                  <a:txBody>
                    <a:bodyPr/>
                    <a:lstStyle/>
                    <a:p>
                      <a:pPr algn="ctr">
                        <a:defRPr sz="1100">
                          <a:solidFill>
                            <a:srgbClr val="1D1D1B"/>
                          </a:solidFill>
                          <a:latin typeface="Calibri"/>
                        </a:defRPr>
                      </a:pPr>
                      <a:r>
                        <a:t>0.267646</a:t>
                      </a:r>
                    </a:p>
                  </a:txBody>
                  <a:tcPr anchor="ctr">
                    <a:solidFill>
                      <a:srgbClr val="F2F2F2"/>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731520" y="4572000"/>
            <a:ext cx="10058400" cy="1828800"/>
          </a:xfrm>
          <a:prstGeom prst="rect">
            <a:avLst/>
          </a:prstGeom>
          <a:noFill/>
        </p:spPr>
        <p:txBody>
          <a:bodyPr wrap="square">
            <a:spAutoFit/>
          </a:bodyPr>
          <a:lstStyle/>
          <a:p>
            <a:pPr algn="l">
              <a:defRPr sz="1400" b="0">
                <a:solidFill>
                  <a:srgbClr val="1D1D1B"/>
                </a:solidFill>
                <a:latin typeface="Calibri"/>
              </a:defRPr>
            </a:pPr>
            <a:r>
              <a:t>Key Observations:</a:t>
            </a:r>
            <a:br/>
            <a:r>
              <a:t>  - XGBoost: best F1 with only 0.026g CO₂ — trains in 13 seconds</a:t>
            </a:r>
            <a:br/>
            <a:r>
              <a:t>  - Logistic Regression: near-zero carbon (0.001g) — trains in 0.2s</a:t>
            </a:r>
            <a:br/>
            <a:r>
              <a:t>  - LightGBM Optuna: 50 tuning trials cost 0.7g — 27x more than a single run</a:t>
            </a:r>
            <a:br/>
            <a:r>
              <a:t>  - Flan-T5: 4.29g CO₂ for zero fraud detected — worst efficiency by far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Training Carbon Footprint Comparison</a:t>
            </a:r>
          </a:p>
        </p:txBody>
      </p:sp>
      <p:pic>
        <p:nvPicPr>
          <p:cNvPr id="4" name="Picture 3" descr="training_co2_bar.png"/>
          <p:cNvPicPr>
            <a:picLocks noChangeAspect="1"/>
          </p:cNvPicPr>
          <p:nvPr/>
        </p:nvPicPr>
        <p:blipFill>
          <a:blip r:embed="rId2"/>
          <a:stretch>
            <a:fillRect/>
          </a:stretch>
        </p:blipFill>
        <p:spPr>
          <a:xfrm>
            <a:off x="914400" y="1188720"/>
            <a:ext cx="10332720" cy="5029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Combined ROC Curves — All Models</a:t>
            </a:r>
          </a:p>
        </p:txBody>
      </p:sp>
      <p:pic>
        <p:nvPicPr>
          <p:cNvPr id="4" name="Picture 3" descr="combined_roc.png"/>
          <p:cNvPicPr>
            <a:picLocks noChangeAspect="1"/>
          </p:cNvPicPr>
          <p:nvPr/>
        </p:nvPicPr>
        <p:blipFill>
          <a:blip r:embed="rId2"/>
          <a:stretch>
            <a:fillRect/>
          </a:stretch>
        </p:blipFill>
        <p:spPr>
          <a:xfrm>
            <a:off x="1371600" y="1188720"/>
            <a:ext cx="9418320" cy="5303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Logistic Regression — Confusion Matrix &amp; ROC Curve</a:t>
            </a:r>
          </a:p>
        </p:txBody>
      </p:sp>
      <p:pic>
        <p:nvPicPr>
          <p:cNvPr id="4" name="Picture 3" descr="logreg_cell12_out0.png"/>
          <p:cNvPicPr>
            <a:picLocks noChangeAspect="1"/>
          </p:cNvPicPr>
          <p:nvPr/>
        </p:nvPicPr>
        <p:blipFill>
          <a:blip r:embed="rId2"/>
          <a:stretch>
            <a:fillRect/>
          </a:stretch>
        </p:blipFill>
        <p:spPr>
          <a:xfrm>
            <a:off x="914400" y="1371600"/>
            <a:ext cx="10332720" cy="4754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Random Forest — Confusion Matrix &amp; ROC Curve</a:t>
            </a:r>
          </a:p>
        </p:txBody>
      </p:sp>
      <p:pic>
        <p:nvPicPr>
          <p:cNvPr id="4" name="Picture 3" descr="rf_cell12_out0.png"/>
          <p:cNvPicPr>
            <a:picLocks noChangeAspect="1"/>
          </p:cNvPicPr>
          <p:nvPr/>
        </p:nvPicPr>
        <p:blipFill>
          <a:blip r:embed="rId2"/>
          <a:stretch>
            <a:fillRect/>
          </a:stretch>
        </p:blipFill>
        <p:spPr>
          <a:xfrm>
            <a:off x="914400" y="1371600"/>
            <a:ext cx="10332720" cy="4754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TabNet — Confusion Matrix &amp; ROC Curve</a:t>
            </a:r>
          </a:p>
        </p:txBody>
      </p:sp>
      <p:pic>
        <p:nvPicPr>
          <p:cNvPr id="4" name="Picture 3" descr="tabnet_cell13_out0.png"/>
          <p:cNvPicPr>
            <a:picLocks noChangeAspect="1"/>
          </p:cNvPicPr>
          <p:nvPr/>
        </p:nvPicPr>
        <p:blipFill>
          <a:blip r:embed="rId2"/>
          <a:stretch>
            <a:fillRect/>
          </a:stretch>
        </p:blipFill>
        <p:spPr>
          <a:xfrm>
            <a:off x="914400" y="1371600"/>
            <a:ext cx="10332720" cy="4754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XGBoost — Confusion Matrix</a:t>
            </a:r>
          </a:p>
        </p:txBody>
      </p:sp>
      <p:pic>
        <p:nvPicPr>
          <p:cNvPr id="4" name="Picture 3" descr="xgboost_cm.png"/>
          <p:cNvPicPr>
            <a:picLocks noChangeAspect="1"/>
          </p:cNvPicPr>
          <p:nvPr/>
        </p:nvPicPr>
        <p:blipFill>
          <a:blip r:embed="rId2"/>
          <a:stretch>
            <a:fillRect/>
          </a:stretch>
        </p:blipFill>
        <p:spPr>
          <a:xfrm>
            <a:off x="914400" y="1371600"/>
            <a:ext cx="10332720" cy="47548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Pareto Frontier — Performance vs Carbon Cost</a:t>
            </a:r>
          </a:p>
        </p:txBody>
      </p:sp>
      <p:pic>
        <p:nvPicPr>
          <p:cNvPr id="4" name="Picture 3" descr="pareto_frontier.png"/>
          <p:cNvPicPr>
            <a:picLocks noChangeAspect="1"/>
          </p:cNvPicPr>
          <p:nvPr/>
        </p:nvPicPr>
        <p:blipFill>
          <a:blip r:embed="rId2"/>
          <a:stretch>
            <a:fillRect/>
          </a:stretch>
        </p:blipFill>
        <p:spPr>
          <a:xfrm>
            <a:off x="914400" y="1188720"/>
            <a:ext cx="10332720" cy="5303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Threshold Tuning — Zero-Carbon F1 Improvement</a:t>
            </a:r>
          </a:p>
        </p:txBody>
      </p:sp>
      <p:pic>
        <p:nvPicPr>
          <p:cNvPr id="4" name="Picture 3" descr="threshold_tuning_comparison.png"/>
          <p:cNvPicPr>
            <a:picLocks noChangeAspect="1"/>
          </p:cNvPicPr>
          <p:nvPr/>
        </p:nvPicPr>
        <p:blipFill>
          <a:blip r:embed="rId2"/>
          <a:stretch>
            <a:fillRect/>
          </a:stretch>
        </p:blipFill>
        <p:spPr>
          <a:xfrm>
            <a:off x="1371600" y="1188720"/>
            <a:ext cx="9418320" cy="5029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Diminishing Returns — Random Forest (Trees vs Carbon)</a:t>
            </a:r>
          </a:p>
        </p:txBody>
      </p:sp>
      <p:pic>
        <p:nvPicPr>
          <p:cNvPr id="4" name="Picture 3" descr="diminishing_returns.png"/>
          <p:cNvPicPr>
            <a:picLocks noChangeAspect="1"/>
          </p:cNvPicPr>
          <p:nvPr/>
        </p:nvPicPr>
        <p:blipFill>
          <a:blip r:embed="rId2"/>
          <a:stretch>
            <a:fillRect/>
          </a:stretch>
        </p:blipFill>
        <p:spPr>
          <a:xfrm>
            <a:off x="914400" y="1188720"/>
            <a:ext cx="10332720" cy="5029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Carbon Cost: Single Run vs Hyperparameter Tuning</a:t>
            </a:r>
          </a:p>
        </p:txBody>
      </p:sp>
      <p:pic>
        <p:nvPicPr>
          <p:cNvPr id="4" name="Picture 3" descr="tuning_co2_comparison.png"/>
          <p:cNvPicPr>
            <a:picLocks noChangeAspect="1"/>
          </p:cNvPicPr>
          <p:nvPr/>
        </p:nvPicPr>
        <p:blipFill>
          <a:blip r:embed="rId2"/>
          <a:stretch>
            <a:fillRect/>
          </a:stretch>
        </p:blipFill>
        <p:spPr>
          <a:xfrm>
            <a:off x="914400" y="1188720"/>
            <a:ext cx="10332720" cy="5029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006A4D"/>
                </a:solidFill>
                <a:latin typeface="Calibri"/>
              </a:defRPr>
            </a:pPr>
            <a:r>
              <a:t>Annual CO₂ Projection at Lloyds Scale (100M txn/day)</a:t>
            </a:r>
          </a:p>
        </p:txBody>
      </p:sp>
      <p:pic>
        <p:nvPicPr>
          <p:cNvPr id="4" name="Picture 3" descr="annual_projection.png"/>
          <p:cNvPicPr>
            <a:picLocks noChangeAspect="1"/>
          </p:cNvPicPr>
          <p:nvPr/>
        </p:nvPicPr>
        <p:blipFill>
          <a:blip r:embed="rId2"/>
          <a:stretch>
            <a:fillRect/>
          </a:stretch>
        </p:blipFill>
        <p:spPr>
          <a:xfrm>
            <a:off x="457200" y="1188720"/>
            <a:ext cx="11247120" cy="5303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2800" b="1">
                <a:solidFill>
                  <a:srgbClr val="CC3333"/>
                </a:solidFill>
                <a:latin typeface="Calibri"/>
              </a:defRPr>
            </a:pPr>
            <a:r>
              <a:t>Flan-T5: Why Generative Models Fail on Tabular Data</a:t>
            </a:r>
          </a:p>
        </p:txBody>
      </p:sp>
      <p:sp>
        <p:nvSpPr>
          <p:cNvPr id="4" name="TextBox 3"/>
          <p:cNvSpPr txBox="1"/>
          <p:nvPr/>
        </p:nvSpPr>
        <p:spPr>
          <a:xfrm>
            <a:off x="731520" y="1188720"/>
            <a:ext cx="5029200" cy="457200"/>
          </a:xfrm>
          <a:prstGeom prst="rect">
            <a:avLst/>
          </a:prstGeom>
          <a:noFill/>
        </p:spPr>
        <p:txBody>
          <a:bodyPr wrap="square">
            <a:spAutoFit/>
          </a:bodyPr>
          <a:lstStyle/>
          <a:p>
            <a:pPr algn="l">
              <a:defRPr sz="2000" b="1">
                <a:solidFill>
                  <a:srgbClr val="1D1D1B"/>
                </a:solidFill>
                <a:latin typeface="Calibri"/>
              </a:defRPr>
            </a:pPr>
            <a:r>
              <a:t>Results: Complete Failure</a:t>
            </a:r>
          </a:p>
        </p:txBody>
      </p:sp>
      <p:graphicFrame>
        <p:nvGraphicFramePr>
          <p:cNvPr id="5" name="Table 4"/>
          <p:cNvGraphicFramePr>
            <a:graphicFrameLocks noGrp="1"/>
          </p:cNvGraphicFramePr>
          <p:nvPr/>
        </p:nvGraphicFramePr>
        <p:xfrm>
          <a:off x="731520" y="1737360"/>
          <a:ext cx="5029200" cy="2926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25120">
                <a:tc>
                  <a:txBody>
                    <a:bodyPr/>
                    <a:lstStyle/>
                    <a:p>
                      <a:pPr algn="ctr">
                        <a:defRPr sz="1200" b="1">
                          <a:solidFill>
                            <a:srgbClr val="FFFFFF"/>
                          </a:solidFill>
                          <a:latin typeface="Calibri"/>
                        </a:defRPr>
                      </a:pPr>
                      <a:r>
                        <a:t>Metric</a:t>
                      </a:r>
                    </a:p>
                  </a:txBody>
                  <a:tcPr anchor="ctr">
                    <a:solidFill>
                      <a:srgbClr val="006A4D"/>
                    </a:solidFill>
                  </a:tcPr>
                </a:tc>
                <a:tc>
                  <a:txBody>
                    <a:bodyPr/>
                    <a:lstStyle/>
                    <a:p>
                      <a:pPr algn="ctr">
                        <a:defRPr sz="1200" b="1">
                          <a:solidFill>
                            <a:srgbClr val="FFFFFF"/>
                          </a:solidFill>
                          <a:latin typeface="Calibri"/>
                        </a:defRPr>
                      </a:pPr>
                      <a:r>
                        <a:t>Value</a:t>
                      </a:r>
                    </a:p>
                  </a:txBody>
                  <a:tcPr anchor="ctr">
                    <a:solidFill>
                      <a:srgbClr val="006A4D"/>
                    </a:solidFill>
                  </a:tcPr>
                </a:tc>
                <a:extLst>
                  <a:ext uri="{0D108BD9-81ED-4DB2-BD59-A6C34878D82A}">
                    <a16:rowId xmlns:a16="http://schemas.microsoft.com/office/drawing/2014/main" val="10000"/>
                  </a:ext>
                </a:extLst>
              </a:tr>
              <a:tr h="325120">
                <a:tc>
                  <a:txBody>
                    <a:bodyPr/>
                    <a:lstStyle/>
                    <a:p>
                      <a:pPr algn="ctr">
                        <a:defRPr sz="1100">
                          <a:solidFill>
                            <a:srgbClr val="1D1D1B"/>
                          </a:solidFill>
                          <a:latin typeface="Calibri"/>
                        </a:defRPr>
                      </a:pPr>
                      <a:r>
                        <a:t>F1 Score</a:t>
                      </a:r>
                    </a:p>
                  </a:txBody>
                  <a:tcPr anchor="ctr">
                    <a:solidFill>
                      <a:srgbClr val="FFFFFF"/>
                    </a:solidFill>
                  </a:tcPr>
                </a:tc>
                <a:tc>
                  <a:txBody>
                    <a:bodyPr/>
                    <a:lstStyle/>
                    <a:p>
                      <a:pPr algn="ctr">
                        <a:defRPr sz="1100">
                          <a:solidFill>
                            <a:srgbClr val="1D1D1B"/>
                          </a:solidFill>
                          <a:latin typeface="Calibri"/>
                        </a:defRPr>
                      </a:pPr>
                      <a:r>
                        <a:t>0.0000</a:t>
                      </a:r>
                    </a:p>
                  </a:txBody>
                  <a:tcPr anchor="ctr">
                    <a:solidFill>
                      <a:srgbClr val="FFFFFF"/>
                    </a:solidFill>
                  </a:tcPr>
                </a:tc>
                <a:extLst>
                  <a:ext uri="{0D108BD9-81ED-4DB2-BD59-A6C34878D82A}">
                    <a16:rowId xmlns:a16="http://schemas.microsoft.com/office/drawing/2014/main" val="10001"/>
                  </a:ext>
                </a:extLst>
              </a:tr>
              <a:tr h="325120">
                <a:tc>
                  <a:txBody>
                    <a:bodyPr/>
                    <a:lstStyle/>
                    <a:p>
                      <a:pPr algn="ctr">
                        <a:defRPr sz="1100">
                          <a:solidFill>
                            <a:srgbClr val="1D1D1B"/>
                          </a:solidFill>
                          <a:latin typeface="Calibri"/>
                        </a:defRPr>
                      </a:pPr>
                      <a:r>
                        <a:t>Precision</a:t>
                      </a:r>
                    </a:p>
                  </a:txBody>
                  <a:tcPr anchor="ctr">
                    <a:solidFill>
                      <a:srgbClr val="F2F2F2"/>
                    </a:solidFill>
                  </a:tcPr>
                </a:tc>
                <a:tc>
                  <a:txBody>
                    <a:bodyPr/>
                    <a:lstStyle/>
                    <a:p>
                      <a:pPr algn="ctr">
                        <a:defRPr sz="1100">
                          <a:solidFill>
                            <a:srgbClr val="1D1D1B"/>
                          </a:solidFill>
                          <a:latin typeface="Calibri"/>
                        </a:defRPr>
                      </a:pPr>
                      <a:r>
                        <a:t>0.0000</a:t>
                      </a:r>
                    </a:p>
                  </a:txBody>
                  <a:tcPr anchor="ctr">
                    <a:solidFill>
                      <a:srgbClr val="F2F2F2"/>
                    </a:solidFill>
                  </a:tcPr>
                </a:tc>
                <a:extLst>
                  <a:ext uri="{0D108BD9-81ED-4DB2-BD59-A6C34878D82A}">
                    <a16:rowId xmlns:a16="http://schemas.microsoft.com/office/drawing/2014/main" val="10002"/>
                  </a:ext>
                </a:extLst>
              </a:tr>
              <a:tr h="325120">
                <a:tc>
                  <a:txBody>
                    <a:bodyPr/>
                    <a:lstStyle/>
                    <a:p>
                      <a:pPr algn="ctr">
                        <a:defRPr sz="1100">
                          <a:solidFill>
                            <a:srgbClr val="1D1D1B"/>
                          </a:solidFill>
                          <a:latin typeface="Calibri"/>
                        </a:defRPr>
                      </a:pPr>
                      <a:r>
                        <a:t>Recall</a:t>
                      </a:r>
                    </a:p>
                  </a:txBody>
                  <a:tcPr anchor="ctr">
                    <a:solidFill>
                      <a:srgbClr val="FFFFFF"/>
                    </a:solidFill>
                  </a:tcPr>
                </a:tc>
                <a:tc>
                  <a:txBody>
                    <a:bodyPr/>
                    <a:lstStyle/>
                    <a:p>
                      <a:pPr algn="ctr">
                        <a:defRPr sz="1100">
                          <a:solidFill>
                            <a:srgbClr val="1D1D1B"/>
                          </a:solidFill>
                          <a:latin typeface="Calibri"/>
                        </a:defRPr>
                      </a:pPr>
                      <a:r>
                        <a:t>0.0000</a:t>
                      </a:r>
                    </a:p>
                  </a:txBody>
                  <a:tcPr anchor="ctr">
                    <a:solidFill>
                      <a:srgbClr val="FFFFFF"/>
                    </a:solidFill>
                  </a:tcPr>
                </a:tc>
                <a:extLst>
                  <a:ext uri="{0D108BD9-81ED-4DB2-BD59-A6C34878D82A}">
                    <a16:rowId xmlns:a16="http://schemas.microsoft.com/office/drawing/2014/main" val="10003"/>
                  </a:ext>
                </a:extLst>
              </a:tr>
              <a:tr h="325120">
                <a:tc>
                  <a:txBody>
                    <a:bodyPr/>
                    <a:lstStyle/>
                    <a:p>
                      <a:pPr algn="ctr">
                        <a:defRPr sz="1100">
                          <a:solidFill>
                            <a:srgbClr val="1D1D1B"/>
                          </a:solidFill>
                          <a:latin typeface="Calibri"/>
                        </a:defRPr>
                      </a:pPr>
                      <a:r>
                        <a:t>Predictions</a:t>
                      </a:r>
                    </a:p>
                  </a:txBody>
                  <a:tcPr anchor="ctr">
                    <a:solidFill>
                      <a:srgbClr val="F2F2F2"/>
                    </a:solidFill>
                  </a:tcPr>
                </a:tc>
                <a:tc>
                  <a:txBody>
                    <a:bodyPr/>
                    <a:lstStyle/>
                    <a:p>
                      <a:pPr algn="ctr">
                        <a:defRPr sz="1100">
                          <a:solidFill>
                            <a:srgbClr val="1D1D1B"/>
                          </a:solidFill>
                          <a:latin typeface="Calibri"/>
                        </a:defRPr>
                      </a:pPr>
                      <a:r>
                        <a:t>"legit" for ALL 2,000 samples</a:t>
                      </a:r>
                    </a:p>
                  </a:txBody>
                  <a:tcPr anchor="ctr">
                    <a:solidFill>
                      <a:srgbClr val="F2F2F2"/>
                    </a:solidFill>
                  </a:tcPr>
                </a:tc>
                <a:extLst>
                  <a:ext uri="{0D108BD9-81ED-4DB2-BD59-A6C34878D82A}">
                    <a16:rowId xmlns:a16="http://schemas.microsoft.com/office/drawing/2014/main" val="10004"/>
                  </a:ext>
                </a:extLst>
              </a:tr>
              <a:tr h="325120">
                <a:tc>
                  <a:txBody>
                    <a:bodyPr/>
                    <a:lstStyle/>
                    <a:p>
                      <a:pPr algn="ctr">
                        <a:defRPr sz="1100">
                          <a:solidFill>
                            <a:srgbClr val="1D1D1B"/>
                          </a:solidFill>
                          <a:latin typeface="Calibri"/>
                        </a:defRPr>
                      </a:pPr>
                      <a:r>
                        <a:t>Fraud detected</a:t>
                      </a:r>
                    </a:p>
                  </a:txBody>
                  <a:tcPr anchor="ctr">
                    <a:solidFill>
                      <a:srgbClr val="FFFFFF"/>
                    </a:solidFill>
                  </a:tcPr>
                </a:tc>
                <a:tc>
                  <a:txBody>
                    <a:bodyPr/>
                    <a:lstStyle/>
                    <a:p>
                      <a:pPr algn="ctr">
                        <a:defRPr sz="1100">
                          <a:solidFill>
                            <a:srgbClr val="1D1D1B"/>
                          </a:solidFill>
                          <a:latin typeface="Calibri"/>
                        </a:defRPr>
                      </a:pPr>
                      <a:r>
                        <a:t>0 out of 3</a:t>
                      </a:r>
                    </a:p>
                  </a:txBody>
                  <a:tcPr anchor="ctr">
                    <a:solidFill>
                      <a:srgbClr val="FFFFFF"/>
                    </a:solidFill>
                  </a:tcPr>
                </a:tc>
                <a:extLst>
                  <a:ext uri="{0D108BD9-81ED-4DB2-BD59-A6C34878D82A}">
                    <a16:rowId xmlns:a16="http://schemas.microsoft.com/office/drawing/2014/main" val="10005"/>
                  </a:ext>
                </a:extLst>
              </a:tr>
              <a:tr h="325120">
                <a:tc>
                  <a:txBody>
                    <a:bodyPr/>
                    <a:lstStyle/>
                    <a:p>
                      <a:pPr algn="ctr">
                        <a:defRPr sz="1100">
                          <a:solidFill>
                            <a:srgbClr val="1D1D1B"/>
                          </a:solidFill>
                          <a:latin typeface="Calibri"/>
                        </a:defRPr>
                      </a:pPr>
                      <a:r>
                        <a:t>Train Time</a:t>
                      </a:r>
                    </a:p>
                  </a:txBody>
                  <a:tcPr anchor="ctr">
                    <a:solidFill>
                      <a:srgbClr val="F2F2F2"/>
                    </a:solidFill>
                  </a:tcPr>
                </a:tc>
                <a:tc>
                  <a:txBody>
                    <a:bodyPr/>
                    <a:lstStyle/>
                    <a:p>
                      <a:pPr algn="ctr">
                        <a:defRPr sz="1100">
                          <a:solidFill>
                            <a:srgbClr val="1D1D1B"/>
                          </a:solidFill>
                          <a:latin typeface="Calibri"/>
                        </a:defRPr>
                      </a:pPr>
                      <a:r>
                        <a:t>1,430 seconds (24 min)</a:t>
                      </a:r>
                    </a:p>
                  </a:txBody>
                  <a:tcPr anchor="ctr">
                    <a:solidFill>
                      <a:srgbClr val="F2F2F2"/>
                    </a:solidFill>
                  </a:tcPr>
                </a:tc>
                <a:extLst>
                  <a:ext uri="{0D108BD9-81ED-4DB2-BD59-A6C34878D82A}">
                    <a16:rowId xmlns:a16="http://schemas.microsoft.com/office/drawing/2014/main" val="10006"/>
                  </a:ext>
                </a:extLst>
              </a:tr>
              <a:tr h="325120">
                <a:tc>
                  <a:txBody>
                    <a:bodyPr/>
                    <a:lstStyle/>
                    <a:p>
                      <a:pPr algn="ctr">
                        <a:defRPr sz="1100">
                          <a:solidFill>
                            <a:srgbClr val="1D1D1B"/>
                          </a:solidFill>
                          <a:latin typeface="Calibri"/>
                        </a:defRPr>
                      </a:pPr>
                      <a:r>
                        <a:t>Train CO₂e</a:t>
                      </a:r>
                    </a:p>
                  </a:txBody>
                  <a:tcPr anchor="ctr">
                    <a:solidFill>
                      <a:srgbClr val="FFFFFF"/>
                    </a:solidFill>
                  </a:tcPr>
                </a:tc>
                <a:tc>
                  <a:txBody>
                    <a:bodyPr/>
                    <a:lstStyle/>
                    <a:p>
                      <a:pPr algn="ctr">
                        <a:defRPr sz="1100">
                          <a:solidFill>
                            <a:srgbClr val="1D1D1B"/>
                          </a:solidFill>
                          <a:latin typeface="Calibri"/>
                        </a:defRPr>
                      </a:pPr>
                      <a:r>
                        <a:t>4.29g (4,300x more than LogReg)</a:t>
                      </a:r>
                    </a:p>
                  </a:txBody>
                  <a:tcPr anchor="ctr">
                    <a:solidFill>
                      <a:srgbClr val="FFFFFF"/>
                    </a:solidFill>
                  </a:tcPr>
                </a:tc>
                <a:extLst>
                  <a:ext uri="{0D108BD9-81ED-4DB2-BD59-A6C34878D82A}">
                    <a16:rowId xmlns:a16="http://schemas.microsoft.com/office/drawing/2014/main" val="10007"/>
                  </a:ext>
                </a:extLst>
              </a:tr>
              <a:tr h="325120">
                <a:tc>
                  <a:txBody>
                    <a:bodyPr/>
                    <a:lstStyle/>
                    <a:p>
                      <a:pPr algn="ctr">
                        <a:defRPr sz="1100">
                          <a:solidFill>
                            <a:srgbClr val="1D1D1B"/>
                          </a:solidFill>
                          <a:latin typeface="Calibri"/>
                        </a:defRPr>
                      </a:pPr>
                      <a:r>
                        <a:t>Inference CO₂e / 1k</a:t>
                      </a:r>
                    </a:p>
                  </a:txBody>
                  <a:tcPr anchor="ctr">
                    <a:solidFill>
                      <a:srgbClr val="F2F2F2"/>
                    </a:solidFill>
                  </a:tcPr>
                </a:tc>
                <a:tc>
                  <a:txBody>
                    <a:bodyPr/>
                    <a:lstStyle/>
                    <a:p>
                      <a:pPr algn="ctr">
                        <a:defRPr sz="1100">
                          <a:solidFill>
                            <a:srgbClr val="1D1D1B"/>
                          </a:solidFill>
                          <a:latin typeface="Calibri"/>
                        </a:defRPr>
                      </a:pPr>
                      <a:r>
                        <a:t>0.268g (10,000x more than RF)</a:t>
                      </a:r>
                    </a:p>
                  </a:txBody>
                  <a:tcPr anchor="ctr">
                    <a:solidFill>
                      <a:srgbClr val="F2F2F2"/>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6400800" y="1188720"/>
            <a:ext cx="5029200" cy="457200"/>
          </a:xfrm>
          <a:prstGeom prst="rect">
            <a:avLst/>
          </a:prstGeom>
          <a:noFill/>
        </p:spPr>
        <p:txBody>
          <a:bodyPr wrap="square">
            <a:spAutoFit/>
          </a:bodyPr>
          <a:lstStyle/>
          <a:p>
            <a:pPr algn="l">
              <a:defRPr sz="2000" b="1">
                <a:solidFill>
                  <a:srgbClr val="1D1D1B"/>
                </a:solidFill>
                <a:latin typeface="Calibri"/>
              </a:defRPr>
            </a:pPr>
            <a:r>
              <a:t>Why It Fails</a:t>
            </a:r>
          </a:p>
        </p:txBody>
      </p:sp>
      <p:sp>
        <p:nvSpPr>
          <p:cNvPr id="7" name="TextBox 6"/>
          <p:cNvSpPr txBox="1"/>
          <p:nvPr/>
        </p:nvSpPr>
        <p:spPr>
          <a:xfrm>
            <a:off x="6400800" y="1737360"/>
            <a:ext cx="5303520" cy="640080"/>
          </a:xfrm>
          <a:prstGeom prst="rect">
            <a:avLst/>
          </a:prstGeom>
          <a:noFill/>
        </p:spPr>
        <p:txBody>
          <a:bodyPr wrap="square">
            <a:spAutoFit/>
          </a:bodyPr>
          <a:lstStyle/>
          <a:p>
            <a:pPr algn="l">
              <a:defRPr sz="1200" b="0">
                <a:solidFill>
                  <a:srgbClr val="1D1D1B"/>
                </a:solidFill>
                <a:latin typeface="Calibri"/>
              </a:defRPr>
            </a:pPr>
            <a:r>
              <a:t>1. Wrong tool — T5 is for NLP text, not tabular numbers</a:t>
            </a:r>
          </a:p>
        </p:txBody>
      </p:sp>
      <p:sp>
        <p:nvSpPr>
          <p:cNvPr id="8" name="TextBox 7"/>
          <p:cNvSpPr txBox="1"/>
          <p:nvPr/>
        </p:nvSpPr>
        <p:spPr>
          <a:xfrm>
            <a:off x="6400800" y="2331720"/>
            <a:ext cx="5303520" cy="640080"/>
          </a:xfrm>
          <a:prstGeom prst="rect">
            <a:avLst/>
          </a:prstGeom>
          <a:noFill/>
        </p:spPr>
        <p:txBody>
          <a:bodyPr wrap="square">
            <a:spAutoFit/>
          </a:bodyPr>
          <a:lstStyle/>
          <a:p>
            <a:pPr algn="l">
              <a:defRPr sz="1200" b="0">
                <a:solidFill>
                  <a:srgbClr val="1D1D1B"/>
                </a:solidFill>
                <a:latin typeface="Calibri"/>
              </a:defRPr>
            </a:pPr>
            <a:r>
              <a:t>2. Tokeniser destroys numerical meaning — loses mathematical relationships</a:t>
            </a:r>
          </a:p>
        </p:txBody>
      </p:sp>
      <p:sp>
        <p:nvSpPr>
          <p:cNvPr id="9" name="TextBox 8"/>
          <p:cNvSpPr txBox="1"/>
          <p:nvPr/>
        </p:nvSpPr>
        <p:spPr>
          <a:xfrm>
            <a:off x="6400800" y="2926079"/>
            <a:ext cx="5303520" cy="640080"/>
          </a:xfrm>
          <a:prstGeom prst="rect">
            <a:avLst/>
          </a:prstGeom>
          <a:noFill/>
        </p:spPr>
        <p:txBody>
          <a:bodyPr wrap="square">
            <a:spAutoFit/>
          </a:bodyPr>
          <a:lstStyle/>
          <a:p>
            <a:pPr algn="l">
              <a:defRPr sz="1200" b="0">
                <a:solidFill>
                  <a:srgbClr val="1D1D1B"/>
                </a:solidFill>
                <a:latin typeface="Calibri"/>
              </a:defRPr>
            </a:pPr>
            <a:r>
              <a:t>3. 60M parameters for what LogReg does with 30 coefficients in 0.2s</a:t>
            </a:r>
          </a:p>
        </p:txBody>
      </p:sp>
      <p:sp>
        <p:nvSpPr>
          <p:cNvPr id="10" name="TextBox 9"/>
          <p:cNvSpPr txBox="1"/>
          <p:nvPr/>
        </p:nvSpPr>
        <p:spPr>
          <a:xfrm>
            <a:off x="6400800" y="3520439"/>
            <a:ext cx="5303520" cy="640080"/>
          </a:xfrm>
          <a:prstGeom prst="rect">
            <a:avLst/>
          </a:prstGeom>
          <a:noFill/>
        </p:spPr>
        <p:txBody>
          <a:bodyPr wrap="square">
            <a:spAutoFit/>
          </a:bodyPr>
          <a:lstStyle/>
          <a:p>
            <a:pPr algn="l">
              <a:defRPr sz="1200" b="0">
                <a:solidFill>
                  <a:srgbClr val="1D1D1B"/>
                </a:solidFill>
                <a:latin typeface="Calibri"/>
              </a:defRPr>
            </a:pPr>
            <a:r>
              <a:t>4. No probability output — threshold tuning impossible</a:t>
            </a:r>
          </a:p>
        </p:txBody>
      </p:sp>
      <p:sp>
        <p:nvSpPr>
          <p:cNvPr id="11" name="TextBox 10"/>
          <p:cNvSpPr txBox="1"/>
          <p:nvPr/>
        </p:nvSpPr>
        <p:spPr>
          <a:xfrm>
            <a:off x="6400800" y="4114800"/>
            <a:ext cx="5303520" cy="640080"/>
          </a:xfrm>
          <a:prstGeom prst="rect">
            <a:avLst/>
          </a:prstGeom>
          <a:noFill/>
        </p:spPr>
        <p:txBody>
          <a:bodyPr wrap="square">
            <a:spAutoFit/>
          </a:bodyPr>
          <a:lstStyle/>
          <a:p>
            <a:pPr algn="l">
              <a:defRPr sz="1200" b="0">
                <a:solidFill>
                  <a:srgbClr val="1D1D1B"/>
                </a:solidFill>
                <a:latin typeface="Calibri"/>
              </a:defRPr>
            </a:pPr>
            <a:r>
              <a:t>5. Class imbalance — learns to always predict 'legit'</a:t>
            </a:r>
          </a:p>
        </p:txBody>
      </p:sp>
      <p:sp>
        <p:nvSpPr>
          <p:cNvPr id="12" name="TextBox 11"/>
          <p:cNvSpPr txBox="1"/>
          <p:nvPr/>
        </p:nvSpPr>
        <p:spPr>
          <a:xfrm>
            <a:off x="605329" y="5939330"/>
            <a:ext cx="10515600" cy="731520"/>
          </a:xfrm>
          <a:prstGeom prst="rect">
            <a:avLst/>
          </a:prstGeom>
          <a:noFill/>
        </p:spPr>
        <p:txBody>
          <a:bodyPr wrap="square">
            <a:spAutoFit/>
          </a:bodyPr>
          <a:lstStyle/>
          <a:p>
            <a:pPr algn="l">
              <a:defRPr sz="1400" b="1">
                <a:solidFill>
                  <a:srgbClr val="CC3333"/>
                </a:solidFill>
                <a:latin typeface="Calibri"/>
              </a:defRPr>
            </a:pPr>
            <a:r>
              <a:t>Generative models are fundamentally unsuited for structured tabular classification. Flan-T5 burned 4,300x more carbon than Logistic Regression and detected zero fraud.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006A4D"/>
                </a:solidFill>
                <a:latin typeface="Calibri"/>
              </a:defRPr>
            </a:pPr>
            <a:r>
              <a:t>Efficiency Leaderboard</a:t>
            </a:r>
          </a:p>
        </p:txBody>
      </p:sp>
      <p:sp>
        <p:nvSpPr>
          <p:cNvPr id="4" name="TextBox 3"/>
          <p:cNvSpPr txBox="1"/>
          <p:nvPr/>
        </p:nvSpPr>
        <p:spPr>
          <a:xfrm>
            <a:off x="731520" y="1097280"/>
            <a:ext cx="10058400" cy="457200"/>
          </a:xfrm>
          <a:prstGeom prst="rect">
            <a:avLst/>
          </a:prstGeom>
          <a:noFill/>
        </p:spPr>
        <p:txBody>
          <a:bodyPr wrap="square">
            <a:spAutoFit/>
          </a:bodyPr>
          <a:lstStyle/>
          <a:p>
            <a:pPr algn="ctr">
              <a:defRPr sz="2000" b="1">
                <a:solidFill>
                  <a:srgbClr val="1D1D1B"/>
                </a:solidFill>
                <a:latin typeface="Calibri"/>
              </a:defRPr>
            </a:pPr>
            <a:r>
              <a:t>Efficiency Score  =  0.7 x F1  -  0.3 x Normalised CO₂e</a:t>
            </a:r>
          </a:p>
        </p:txBody>
      </p:sp>
      <p:sp>
        <p:nvSpPr>
          <p:cNvPr id="5" name="TextBox 4"/>
          <p:cNvSpPr txBox="1"/>
          <p:nvPr/>
        </p:nvSpPr>
        <p:spPr>
          <a:xfrm>
            <a:off x="731520" y="1554480"/>
            <a:ext cx="10058400" cy="457200"/>
          </a:xfrm>
          <a:prstGeom prst="rect">
            <a:avLst/>
          </a:prstGeom>
          <a:noFill/>
        </p:spPr>
        <p:txBody>
          <a:bodyPr wrap="square">
            <a:spAutoFit/>
          </a:bodyPr>
          <a:lstStyle/>
          <a:p>
            <a:pPr algn="ctr">
              <a:defRPr sz="1300" b="0">
                <a:solidFill>
                  <a:srgbClr val="666666"/>
                </a:solidFill>
                <a:latin typeface="Calibri"/>
              </a:defRPr>
            </a:pPr>
            <a:r>
              <a:t>F1 is already 0-1. CO₂ is normalised: (CO₂ - min) / (max - min). 70/30 split: performance matters more, but carbon is penalised.</a:t>
            </a:r>
          </a:p>
        </p:txBody>
      </p:sp>
      <p:graphicFrame>
        <p:nvGraphicFramePr>
          <p:cNvPr id="6" name="Table 5"/>
          <p:cNvGraphicFramePr>
            <a:graphicFrameLocks noGrp="1"/>
          </p:cNvGraphicFramePr>
          <p:nvPr/>
        </p:nvGraphicFramePr>
        <p:xfrm>
          <a:off x="148501" y="2103120"/>
          <a:ext cx="6401156" cy="3755422"/>
        </p:xfrm>
        <a:graphic>
          <a:graphicData uri="http://schemas.openxmlformats.org/drawingml/2006/table">
            <a:tbl>
              <a:tblPr firstRow="1" bandRow="1">
                <a:tableStyleId>{5C22544A-7EE6-4342-B048-85BDC9FD1C3A}</a:tableStyleId>
              </a:tblPr>
              <a:tblGrid>
                <a:gridCol w="522543">
                  <a:extLst>
                    <a:ext uri="{9D8B030D-6E8A-4147-A177-3AD203B41FA5}">
                      <a16:colId xmlns:a16="http://schemas.microsoft.com/office/drawing/2014/main" val="20000"/>
                    </a:ext>
                  </a:extLst>
                </a:gridCol>
                <a:gridCol w="1828902">
                  <a:extLst>
                    <a:ext uri="{9D8B030D-6E8A-4147-A177-3AD203B41FA5}">
                      <a16:colId xmlns:a16="http://schemas.microsoft.com/office/drawing/2014/main" val="20001"/>
                    </a:ext>
                  </a:extLst>
                </a:gridCol>
                <a:gridCol w="783815">
                  <a:extLst>
                    <a:ext uri="{9D8B030D-6E8A-4147-A177-3AD203B41FA5}">
                      <a16:colId xmlns:a16="http://schemas.microsoft.com/office/drawing/2014/main" val="20002"/>
                    </a:ext>
                  </a:extLst>
                </a:gridCol>
                <a:gridCol w="979769">
                  <a:extLst>
                    <a:ext uri="{9D8B030D-6E8A-4147-A177-3AD203B41FA5}">
                      <a16:colId xmlns:a16="http://schemas.microsoft.com/office/drawing/2014/main" val="20003"/>
                    </a:ext>
                  </a:extLst>
                </a:gridCol>
                <a:gridCol w="979769">
                  <a:extLst>
                    <a:ext uri="{9D8B030D-6E8A-4147-A177-3AD203B41FA5}">
                      <a16:colId xmlns:a16="http://schemas.microsoft.com/office/drawing/2014/main" val="20004"/>
                    </a:ext>
                  </a:extLst>
                </a:gridCol>
                <a:gridCol w="1306358">
                  <a:extLst>
                    <a:ext uri="{9D8B030D-6E8A-4147-A177-3AD203B41FA5}">
                      <a16:colId xmlns:a16="http://schemas.microsoft.com/office/drawing/2014/main" val="20005"/>
                    </a:ext>
                  </a:extLst>
                </a:gridCol>
              </a:tblGrid>
              <a:tr h="563783">
                <a:tc>
                  <a:txBody>
                    <a:bodyPr/>
                    <a:lstStyle/>
                    <a:p>
                      <a:pPr algn="ctr">
                        <a:defRPr sz="1200" b="1">
                          <a:solidFill>
                            <a:srgbClr val="FFFFFF"/>
                          </a:solidFill>
                          <a:latin typeface="Calibri"/>
                        </a:defRPr>
                      </a:pPr>
                      <a:r>
                        <a:t>Rank</a:t>
                      </a:r>
                    </a:p>
                  </a:txBody>
                  <a:tcPr anchor="ctr">
                    <a:solidFill>
                      <a:srgbClr val="006A4D"/>
                    </a:solidFill>
                  </a:tcPr>
                </a:tc>
                <a:tc>
                  <a:txBody>
                    <a:bodyPr/>
                    <a:lstStyle/>
                    <a:p>
                      <a:pPr algn="ctr">
                        <a:defRPr sz="1200" b="1">
                          <a:solidFill>
                            <a:srgbClr val="FFFFFF"/>
                          </a:solidFill>
                          <a:latin typeface="Calibri"/>
                        </a:defRPr>
                      </a:pPr>
                      <a:r>
                        <a:t>Model</a:t>
                      </a:r>
                    </a:p>
                  </a:txBody>
                  <a:tcPr anchor="ctr">
                    <a:solidFill>
                      <a:srgbClr val="006A4D"/>
                    </a:solidFill>
                  </a:tcPr>
                </a:tc>
                <a:tc>
                  <a:txBody>
                    <a:bodyPr/>
                    <a:lstStyle/>
                    <a:p>
                      <a:pPr algn="ctr">
                        <a:defRPr sz="1200" b="1">
                          <a:solidFill>
                            <a:srgbClr val="FFFFFF"/>
                          </a:solidFill>
                          <a:latin typeface="Calibri"/>
                        </a:defRPr>
                      </a:pPr>
                      <a:r>
                        <a:t>F1</a:t>
                      </a:r>
                    </a:p>
                  </a:txBody>
                  <a:tcPr anchor="ctr">
                    <a:solidFill>
                      <a:srgbClr val="006A4D"/>
                    </a:solidFill>
                  </a:tcPr>
                </a:tc>
                <a:tc>
                  <a:txBody>
                    <a:bodyPr/>
                    <a:lstStyle/>
                    <a:p>
                      <a:pPr algn="ctr">
                        <a:defRPr sz="1200" b="1">
                          <a:solidFill>
                            <a:srgbClr val="FFFFFF"/>
                          </a:solidFill>
                          <a:latin typeface="Calibri"/>
                        </a:defRPr>
                      </a:pPr>
                      <a:r>
                        <a:t>CO₂e (g)</a:t>
                      </a:r>
                    </a:p>
                  </a:txBody>
                  <a:tcPr anchor="ctr">
                    <a:solidFill>
                      <a:srgbClr val="006A4D"/>
                    </a:solidFill>
                  </a:tcPr>
                </a:tc>
                <a:tc>
                  <a:txBody>
                    <a:bodyPr/>
                    <a:lstStyle/>
                    <a:p>
                      <a:pPr algn="ctr">
                        <a:defRPr sz="1200" b="1">
                          <a:solidFill>
                            <a:srgbClr val="FFFFFF"/>
                          </a:solidFill>
                          <a:latin typeface="Calibri"/>
                        </a:defRPr>
                      </a:pPr>
                      <a:r>
                        <a:t>Norm CO₂</a:t>
                      </a:r>
                    </a:p>
                  </a:txBody>
                  <a:tcPr anchor="ctr">
                    <a:solidFill>
                      <a:srgbClr val="006A4D"/>
                    </a:solidFill>
                  </a:tcPr>
                </a:tc>
                <a:tc>
                  <a:txBody>
                    <a:bodyPr/>
                    <a:lstStyle/>
                    <a:p>
                      <a:pPr algn="ctr">
                        <a:defRPr sz="1200" b="1">
                          <a:solidFill>
                            <a:srgbClr val="FFFFFF"/>
                          </a:solidFill>
                          <a:latin typeface="Calibri"/>
                        </a:defRPr>
                      </a:pPr>
                      <a:r>
                        <a:t>Efficiency Score</a:t>
                      </a:r>
                    </a:p>
                  </a:txBody>
                  <a:tcPr anchor="ctr">
                    <a:solidFill>
                      <a:srgbClr val="006A4D"/>
                    </a:solidFill>
                  </a:tcPr>
                </a:tc>
                <a:extLst>
                  <a:ext uri="{0D108BD9-81ED-4DB2-BD59-A6C34878D82A}">
                    <a16:rowId xmlns:a16="http://schemas.microsoft.com/office/drawing/2014/main" val="10000"/>
                  </a:ext>
                </a:extLst>
              </a:tr>
              <a:tr h="563783">
                <a:tc>
                  <a:txBody>
                    <a:bodyPr/>
                    <a:lstStyle/>
                    <a:p>
                      <a:pPr algn="ctr">
                        <a:defRPr sz="1100">
                          <a:solidFill>
                            <a:srgbClr val="1D1D1B"/>
                          </a:solidFill>
                          <a:latin typeface="Calibri"/>
                        </a:defRPr>
                      </a:pPr>
                      <a:r>
                        <a:t>1</a:t>
                      </a:r>
                    </a:p>
                  </a:txBody>
                  <a:tcPr anchor="ctr">
                    <a:solidFill>
                      <a:srgbClr val="FFFFFF"/>
                    </a:solidFill>
                  </a:tcPr>
                </a:tc>
                <a:tc>
                  <a:txBody>
                    <a:bodyPr/>
                    <a:lstStyle/>
                    <a:p>
                      <a:pPr algn="ctr">
                        <a:defRPr sz="1100">
                          <a:solidFill>
                            <a:srgbClr val="1D1D1B"/>
                          </a:solidFill>
                          <a:latin typeface="Calibri"/>
                        </a:defRPr>
                      </a:pPr>
                      <a:r>
                        <a:t>Random Forest</a:t>
                      </a:r>
                    </a:p>
                  </a:txBody>
                  <a:tcPr anchor="ctr">
                    <a:solidFill>
                      <a:srgbClr val="FFFFFF"/>
                    </a:solidFill>
                  </a:tcPr>
                </a:tc>
                <a:tc>
                  <a:txBody>
                    <a:bodyPr/>
                    <a:lstStyle/>
                    <a:p>
                      <a:pPr algn="ctr">
                        <a:defRPr sz="1100">
                          <a:solidFill>
                            <a:srgbClr val="1D1D1B"/>
                          </a:solidFill>
                          <a:latin typeface="Calibri"/>
                        </a:defRPr>
                      </a:pPr>
                      <a:r>
                        <a:t>0.8817</a:t>
                      </a:r>
                    </a:p>
                  </a:txBody>
                  <a:tcPr anchor="ctr">
                    <a:solidFill>
                      <a:srgbClr val="FFFFFF"/>
                    </a:solidFill>
                  </a:tcPr>
                </a:tc>
                <a:tc>
                  <a:txBody>
                    <a:bodyPr/>
                    <a:lstStyle/>
                    <a:p>
                      <a:pPr algn="ctr">
                        <a:defRPr sz="1100">
                          <a:solidFill>
                            <a:srgbClr val="1D1D1B"/>
                          </a:solidFill>
                          <a:latin typeface="Calibri"/>
                        </a:defRPr>
                      </a:pPr>
                      <a:r>
                        <a:t>0.0530</a:t>
                      </a:r>
                    </a:p>
                  </a:txBody>
                  <a:tcPr anchor="ctr">
                    <a:solidFill>
                      <a:srgbClr val="FFFFFF"/>
                    </a:solidFill>
                  </a:tcPr>
                </a:tc>
                <a:tc>
                  <a:txBody>
                    <a:bodyPr/>
                    <a:lstStyle/>
                    <a:p>
                      <a:pPr algn="ctr">
                        <a:defRPr sz="1100">
                          <a:solidFill>
                            <a:srgbClr val="1D1D1B"/>
                          </a:solidFill>
                          <a:latin typeface="Calibri"/>
                        </a:defRPr>
                      </a:pPr>
                      <a:r>
                        <a:t>0.0121</a:t>
                      </a:r>
                    </a:p>
                  </a:txBody>
                  <a:tcPr anchor="ctr">
                    <a:solidFill>
                      <a:srgbClr val="FFFFFF"/>
                    </a:solidFill>
                  </a:tcPr>
                </a:tc>
                <a:tc>
                  <a:txBody>
                    <a:bodyPr/>
                    <a:lstStyle/>
                    <a:p>
                      <a:pPr algn="ctr">
                        <a:defRPr sz="1100">
                          <a:solidFill>
                            <a:srgbClr val="1D1D1B"/>
                          </a:solidFill>
                          <a:latin typeface="Calibri"/>
                        </a:defRPr>
                      </a:pPr>
                      <a:r>
                        <a:t>0.6136</a:t>
                      </a:r>
                    </a:p>
                  </a:txBody>
                  <a:tcPr anchor="ctr">
                    <a:solidFill>
                      <a:srgbClr val="FFFFFF"/>
                    </a:solidFill>
                  </a:tcPr>
                </a:tc>
                <a:extLst>
                  <a:ext uri="{0D108BD9-81ED-4DB2-BD59-A6C34878D82A}">
                    <a16:rowId xmlns:a16="http://schemas.microsoft.com/office/drawing/2014/main" val="10001"/>
                  </a:ext>
                </a:extLst>
              </a:tr>
              <a:tr h="563783">
                <a:tc>
                  <a:txBody>
                    <a:bodyPr/>
                    <a:lstStyle/>
                    <a:p>
                      <a:pPr algn="ctr">
                        <a:defRPr sz="1100">
                          <a:solidFill>
                            <a:srgbClr val="1D1D1B"/>
                          </a:solidFill>
                          <a:latin typeface="Calibri"/>
                        </a:defRPr>
                      </a:pPr>
                      <a:r>
                        <a:t>2</a:t>
                      </a:r>
                    </a:p>
                  </a:txBody>
                  <a:tcPr anchor="ctr">
                    <a:solidFill>
                      <a:srgbClr val="F2F2F2"/>
                    </a:solidFill>
                  </a:tcPr>
                </a:tc>
                <a:tc>
                  <a:txBody>
                    <a:bodyPr/>
                    <a:lstStyle/>
                    <a:p>
                      <a:pPr algn="ctr">
                        <a:defRPr sz="1100">
                          <a:solidFill>
                            <a:srgbClr val="1D1D1B"/>
                          </a:solidFill>
                          <a:latin typeface="Calibri"/>
                        </a:defRPr>
                      </a:pPr>
                      <a:r>
                        <a:t>XGBoost</a:t>
                      </a:r>
                    </a:p>
                  </a:txBody>
                  <a:tcPr anchor="ctr">
                    <a:solidFill>
                      <a:srgbClr val="F2F2F2"/>
                    </a:solidFill>
                  </a:tcPr>
                </a:tc>
                <a:tc>
                  <a:txBody>
                    <a:bodyPr/>
                    <a:lstStyle/>
                    <a:p>
                      <a:pPr algn="ctr">
                        <a:defRPr sz="1100">
                          <a:solidFill>
                            <a:srgbClr val="1D1D1B"/>
                          </a:solidFill>
                          <a:latin typeface="Calibri"/>
                        </a:defRPr>
                      </a:pPr>
                      <a:r>
                        <a:t>0.8678</a:t>
                      </a:r>
                    </a:p>
                  </a:txBody>
                  <a:tcPr anchor="ctr">
                    <a:solidFill>
                      <a:srgbClr val="F2F2F2"/>
                    </a:solidFill>
                  </a:tcPr>
                </a:tc>
                <a:tc>
                  <a:txBody>
                    <a:bodyPr/>
                    <a:lstStyle/>
                    <a:p>
                      <a:pPr algn="ctr">
                        <a:defRPr sz="1100">
                          <a:solidFill>
                            <a:srgbClr val="1D1D1B"/>
                          </a:solidFill>
                          <a:latin typeface="Calibri"/>
                        </a:defRPr>
                      </a:pPr>
                      <a:r>
                        <a:t>0.0260</a:t>
                      </a:r>
                    </a:p>
                  </a:txBody>
                  <a:tcPr anchor="ctr">
                    <a:solidFill>
                      <a:srgbClr val="F2F2F2"/>
                    </a:solidFill>
                  </a:tcPr>
                </a:tc>
                <a:tc>
                  <a:txBody>
                    <a:bodyPr/>
                    <a:lstStyle/>
                    <a:p>
                      <a:pPr algn="ctr">
                        <a:defRPr sz="1100">
                          <a:solidFill>
                            <a:srgbClr val="1D1D1B"/>
                          </a:solidFill>
                          <a:latin typeface="Calibri"/>
                        </a:defRPr>
                      </a:pPr>
                      <a:r>
                        <a:t>0.0058</a:t>
                      </a:r>
                    </a:p>
                  </a:txBody>
                  <a:tcPr anchor="ctr">
                    <a:solidFill>
                      <a:srgbClr val="F2F2F2"/>
                    </a:solidFill>
                  </a:tcPr>
                </a:tc>
                <a:tc>
                  <a:txBody>
                    <a:bodyPr/>
                    <a:lstStyle/>
                    <a:p>
                      <a:pPr algn="ctr">
                        <a:defRPr sz="1100">
                          <a:solidFill>
                            <a:srgbClr val="1D1D1B"/>
                          </a:solidFill>
                          <a:latin typeface="Calibri"/>
                        </a:defRPr>
                      </a:pPr>
                      <a:r>
                        <a:t>0.6057</a:t>
                      </a:r>
                    </a:p>
                  </a:txBody>
                  <a:tcPr anchor="ctr">
                    <a:solidFill>
                      <a:srgbClr val="F2F2F2"/>
                    </a:solidFill>
                  </a:tcPr>
                </a:tc>
                <a:extLst>
                  <a:ext uri="{0D108BD9-81ED-4DB2-BD59-A6C34878D82A}">
                    <a16:rowId xmlns:a16="http://schemas.microsoft.com/office/drawing/2014/main" val="10002"/>
                  </a:ext>
                </a:extLst>
              </a:tr>
              <a:tr h="563783">
                <a:tc>
                  <a:txBody>
                    <a:bodyPr/>
                    <a:lstStyle/>
                    <a:p>
                      <a:pPr algn="ctr">
                        <a:defRPr sz="1100">
                          <a:solidFill>
                            <a:srgbClr val="1D1D1B"/>
                          </a:solidFill>
                          <a:latin typeface="Calibri"/>
                        </a:defRPr>
                      </a:pPr>
                      <a:r>
                        <a:t>3</a:t>
                      </a:r>
                    </a:p>
                  </a:txBody>
                  <a:tcPr anchor="ctr">
                    <a:solidFill>
                      <a:srgbClr val="FFFFFF"/>
                    </a:solidFill>
                  </a:tcPr>
                </a:tc>
                <a:tc>
                  <a:txBody>
                    <a:bodyPr/>
                    <a:lstStyle/>
                    <a:p>
                      <a:pPr algn="ctr">
                        <a:defRPr sz="1100">
                          <a:solidFill>
                            <a:srgbClr val="1D1D1B"/>
                          </a:solidFill>
                          <a:latin typeface="Calibri"/>
                        </a:defRPr>
                      </a:pPr>
                      <a:r>
                        <a:t>Logistic Regression</a:t>
                      </a:r>
                    </a:p>
                  </a:txBody>
                  <a:tcPr anchor="ctr">
                    <a:solidFill>
                      <a:srgbClr val="FFFFFF"/>
                    </a:solidFill>
                  </a:tcPr>
                </a:tc>
                <a:tc>
                  <a:txBody>
                    <a:bodyPr/>
                    <a:lstStyle/>
                    <a:p>
                      <a:pPr algn="ctr">
                        <a:defRPr sz="1100">
                          <a:solidFill>
                            <a:srgbClr val="1D1D1B"/>
                          </a:solidFill>
                          <a:latin typeface="Calibri"/>
                        </a:defRPr>
                      </a:pPr>
                      <a:r>
                        <a:t>0.8247</a:t>
                      </a:r>
                    </a:p>
                  </a:txBody>
                  <a:tcPr anchor="ctr">
                    <a:solidFill>
                      <a:srgbClr val="FFFFFF"/>
                    </a:solidFill>
                  </a:tcPr>
                </a:tc>
                <a:tc>
                  <a:txBody>
                    <a:bodyPr/>
                    <a:lstStyle/>
                    <a:p>
                      <a:pPr algn="ctr">
                        <a:defRPr sz="1100">
                          <a:solidFill>
                            <a:srgbClr val="1D1D1B"/>
                          </a:solidFill>
                          <a:latin typeface="Calibri"/>
                        </a:defRPr>
                      </a:pPr>
                      <a:r>
                        <a:t>0.0010</a:t>
                      </a:r>
                    </a:p>
                  </a:txBody>
                  <a:tcPr anchor="ctr">
                    <a:solidFill>
                      <a:srgbClr val="FFFFFF"/>
                    </a:solidFill>
                  </a:tcPr>
                </a:tc>
                <a:tc>
                  <a:txBody>
                    <a:bodyPr/>
                    <a:lstStyle/>
                    <a:p>
                      <a:pPr algn="ctr">
                        <a:defRPr sz="1100">
                          <a:solidFill>
                            <a:srgbClr val="1D1D1B"/>
                          </a:solidFill>
                          <a:latin typeface="Calibri"/>
                        </a:defRPr>
                      </a:pPr>
                      <a:r>
                        <a:t>0.0000</a:t>
                      </a:r>
                    </a:p>
                  </a:txBody>
                  <a:tcPr anchor="ctr">
                    <a:solidFill>
                      <a:srgbClr val="FFFFFF"/>
                    </a:solidFill>
                  </a:tcPr>
                </a:tc>
                <a:tc>
                  <a:txBody>
                    <a:bodyPr/>
                    <a:lstStyle/>
                    <a:p>
                      <a:pPr algn="ctr">
                        <a:defRPr sz="1100">
                          <a:solidFill>
                            <a:srgbClr val="1D1D1B"/>
                          </a:solidFill>
                          <a:latin typeface="Calibri"/>
                        </a:defRPr>
                      </a:pPr>
                      <a:r>
                        <a:t>0.5773</a:t>
                      </a:r>
                    </a:p>
                  </a:txBody>
                  <a:tcPr anchor="ctr">
                    <a:solidFill>
                      <a:srgbClr val="FFFFFF"/>
                    </a:solidFill>
                  </a:tcPr>
                </a:tc>
                <a:extLst>
                  <a:ext uri="{0D108BD9-81ED-4DB2-BD59-A6C34878D82A}">
                    <a16:rowId xmlns:a16="http://schemas.microsoft.com/office/drawing/2014/main" val="10003"/>
                  </a:ext>
                </a:extLst>
              </a:tr>
              <a:tr h="563783">
                <a:tc>
                  <a:txBody>
                    <a:bodyPr/>
                    <a:lstStyle/>
                    <a:p>
                      <a:pPr algn="ctr">
                        <a:defRPr sz="1100">
                          <a:solidFill>
                            <a:srgbClr val="1D1D1B"/>
                          </a:solidFill>
                          <a:latin typeface="Calibri"/>
                        </a:defRPr>
                      </a:pPr>
                      <a:r>
                        <a:t>4</a:t>
                      </a:r>
                    </a:p>
                  </a:txBody>
                  <a:tcPr anchor="ctr">
                    <a:solidFill>
                      <a:srgbClr val="F2F2F2"/>
                    </a:solidFill>
                  </a:tcPr>
                </a:tc>
                <a:tc>
                  <a:txBody>
                    <a:bodyPr/>
                    <a:lstStyle/>
                    <a:p>
                      <a:pPr algn="ctr">
                        <a:defRPr sz="1100">
                          <a:solidFill>
                            <a:srgbClr val="1D1D1B"/>
                          </a:solidFill>
                          <a:latin typeface="Calibri"/>
                        </a:defRPr>
                      </a:pPr>
                      <a:r>
                        <a:rPr err="1"/>
                        <a:t>TabNet</a:t>
                      </a:r>
                      <a:endParaRPr/>
                    </a:p>
                  </a:txBody>
                  <a:tcPr anchor="ctr">
                    <a:solidFill>
                      <a:srgbClr val="F2F2F2"/>
                    </a:solidFill>
                  </a:tcPr>
                </a:tc>
                <a:tc>
                  <a:txBody>
                    <a:bodyPr/>
                    <a:lstStyle/>
                    <a:p>
                      <a:pPr algn="ctr">
                        <a:defRPr sz="1100">
                          <a:solidFill>
                            <a:srgbClr val="1D1D1B"/>
                          </a:solidFill>
                          <a:latin typeface="Calibri"/>
                        </a:defRPr>
                      </a:pPr>
                      <a:r>
                        <a:t>0.7745</a:t>
                      </a:r>
                    </a:p>
                  </a:txBody>
                  <a:tcPr anchor="ctr">
                    <a:solidFill>
                      <a:srgbClr val="F2F2F2"/>
                    </a:solidFill>
                  </a:tcPr>
                </a:tc>
                <a:tc>
                  <a:txBody>
                    <a:bodyPr/>
                    <a:lstStyle/>
                    <a:p>
                      <a:pPr algn="ctr">
                        <a:defRPr sz="1100">
                          <a:solidFill>
                            <a:srgbClr val="1D1D1B"/>
                          </a:solidFill>
                          <a:latin typeface="Calibri"/>
                        </a:defRPr>
                      </a:pPr>
                      <a:r>
                        <a:t>0.5010</a:t>
                      </a:r>
                    </a:p>
                  </a:txBody>
                  <a:tcPr anchor="ctr">
                    <a:solidFill>
                      <a:srgbClr val="F2F2F2"/>
                    </a:solidFill>
                  </a:tcPr>
                </a:tc>
                <a:tc>
                  <a:txBody>
                    <a:bodyPr/>
                    <a:lstStyle/>
                    <a:p>
                      <a:pPr algn="ctr">
                        <a:defRPr sz="1100">
                          <a:solidFill>
                            <a:srgbClr val="1D1D1B"/>
                          </a:solidFill>
                          <a:latin typeface="Calibri"/>
                        </a:defRPr>
                      </a:pPr>
                      <a:r>
                        <a:t>0.1165</a:t>
                      </a:r>
                    </a:p>
                  </a:txBody>
                  <a:tcPr anchor="ctr">
                    <a:solidFill>
                      <a:srgbClr val="F2F2F2"/>
                    </a:solidFill>
                  </a:tcPr>
                </a:tc>
                <a:tc>
                  <a:txBody>
                    <a:bodyPr/>
                    <a:lstStyle/>
                    <a:p>
                      <a:pPr algn="ctr">
                        <a:defRPr sz="1100">
                          <a:solidFill>
                            <a:srgbClr val="1D1D1B"/>
                          </a:solidFill>
                          <a:latin typeface="Calibri"/>
                        </a:defRPr>
                      </a:pPr>
                      <a:r>
                        <a:t>0.5072</a:t>
                      </a:r>
                    </a:p>
                  </a:txBody>
                  <a:tcPr anchor="ctr">
                    <a:solidFill>
                      <a:srgbClr val="F2F2F2"/>
                    </a:solidFill>
                  </a:tcPr>
                </a:tc>
                <a:extLst>
                  <a:ext uri="{0D108BD9-81ED-4DB2-BD59-A6C34878D82A}">
                    <a16:rowId xmlns:a16="http://schemas.microsoft.com/office/drawing/2014/main" val="10004"/>
                  </a:ext>
                </a:extLst>
              </a:tr>
              <a:tr h="563783">
                <a:tc>
                  <a:txBody>
                    <a:bodyPr/>
                    <a:lstStyle/>
                    <a:p>
                      <a:pPr algn="ctr">
                        <a:defRPr sz="1100">
                          <a:solidFill>
                            <a:srgbClr val="1D1D1B"/>
                          </a:solidFill>
                          <a:latin typeface="Calibri"/>
                        </a:defRPr>
                      </a:pPr>
                      <a:r>
                        <a:t>5</a:t>
                      </a:r>
                    </a:p>
                  </a:txBody>
                  <a:tcPr anchor="ctr">
                    <a:solidFill>
                      <a:srgbClr val="FFFFFF"/>
                    </a:solidFill>
                  </a:tcPr>
                </a:tc>
                <a:tc>
                  <a:txBody>
                    <a:bodyPr/>
                    <a:lstStyle/>
                    <a:p>
                      <a:pPr algn="ctr">
                        <a:defRPr sz="1100">
                          <a:solidFill>
                            <a:srgbClr val="1D1D1B"/>
                          </a:solidFill>
                          <a:latin typeface="Calibri"/>
                        </a:defRPr>
                      </a:pPr>
                      <a:r>
                        <a:t>Optuna LightGBM</a:t>
                      </a:r>
                    </a:p>
                  </a:txBody>
                  <a:tcPr anchor="ctr">
                    <a:solidFill>
                      <a:srgbClr val="FFFFFF"/>
                    </a:solidFill>
                  </a:tcPr>
                </a:tc>
                <a:tc>
                  <a:txBody>
                    <a:bodyPr/>
                    <a:lstStyle/>
                    <a:p>
                      <a:pPr algn="ctr">
                        <a:defRPr sz="1100">
                          <a:solidFill>
                            <a:srgbClr val="1D1D1B"/>
                          </a:solidFill>
                          <a:latin typeface="Calibri"/>
                        </a:defRPr>
                      </a:pPr>
                      <a:r>
                        <a:t>0.6781</a:t>
                      </a:r>
                    </a:p>
                  </a:txBody>
                  <a:tcPr anchor="ctr">
                    <a:solidFill>
                      <a:srgbClr val="FFFFFF"/>
                    </a:solidFill>
                  </a:tcPr>
                </a:tc>
                <a:tc>
                  <a:txBody>
                    <a:bodyPr/>
                    <a:lstStyle/>
                    <a:p>
                      <a:pPr algn="ctr">
                        <a:defRPr sz="1100">
                          <a:solidFill>
                            <a:srgbClr val="1D1D1B"/>
                          </a:solidFill>
                          <a:latin typeface="Calibri"/>
                        </a:defRPr>
                      </a:pPr>
                      <a:r>
                        <a:t>0.7000</a:t>
                      </a:r>
                    </a:p>
                  </a:txBody>
                  <a:tcPr anchor="ctr">
                    <a:solidFill>
                      <a:srgbClr val="FFFFFF"/>
                    </a:solidFill>
                  </a:tcPr>
                </a:tc>
                <a:tc>
                  <a:txBody>
                    <a:bodyPr/>
                    <a:lstStyle/>
                    <a:p>
                      <a:pPr algn="ctr">
                        <a:defRPr sz="1100">
                          <a:solidFill>
                            <a:srgbClr val="1D1D1B"/>
                          </a:solidFill>
                          <a:latin typeface="Calibri"/>
                        </a:defRPr>
                      </a:pPr>
                      <a:r>
                        <a:t>0.1629</a:t>
                      </a:r>
                    </a:p>
                  </a:txBody>
                  <a:tcPr anchor="ctr">
                    <a:solidFill>
                      <a:srgbClr val="FFFFFF"/>
                    </a:solidFill>
                  </a:tcPr>
                </a:tc>
                <a:tc>
                  <a:txBody>
                    <a:bodyPr/>
                    <a:lstStyle/>
                    <a:p>
                      <a:pPr algn="ctr">
                        <a:defRPr sz="1100">
                          <a:solidFill>
                            <a:srgbClr val="1D1D1B"/>
                          </a:solidFill>
                          <a:latin typeface="Calibri"/>
                        </a:defRPr>
                      </a:pPr>
                      <a:r>
                        <a:t>0.4258</a:t>
                      </a:r>
                    </a:p>
                  </a:txBody>
                  <a:tcPr anchor="ctr">
                    <a:solidFill>
                      <a:srgbClr val="FFFFFF"/>
                    </a:solidFill>
                  </a:tcPr>
                </a:tc>
                <a:extLst>
                  <a:ext uri="{0D108BD9-81ED-4DB2-BD59-A6C34878D82A}">
                    <a16:rowId xmlns:a16="http://schemas.microsoft.com/office/drawing/2014/main" val="10005"/>
                  </a:ext>
                </a:extLst>
              </a:tr>
              <a:tr h="372724">
                <a:tc>
                  <a:txBody>
                    <a:bodyPr/>
                    <a:lstStyle/>
                    <a:p>
                      <a:pPr algn="ctr">
                        <a:defRPr sz="1100">
                          <a:solidFill>
                            <a:srgbClr val="1D1D1B"/>
                          </a:solidFill>
                          <a:latin typeface="Calibri"/>
                        </a:defRPr>
                      </a:pPr>
                      <a:r>
                        <a:t>6</a:t>
                      </a:r>
                    </a:p>
                  </a:txBody>
                  <a:tcPr anchor="ctr">
                    <a:solidFill>
                      <a:srgbClr val="F2F2F2"/>
                    </a:solidFill>
                  </a:tcPr>
                </a:tc>
                <a:tc>
                  <a:txBody>
                    <a:bodyPr/>
                    <a:lstStyle/>
                    <a:p>
                      <a:pPr algn="ctr">
                        <a:defRPr sz="1100">
                          <a:solidFill>
                            <a:srgbClr val="1D1D1B"/>
                          </a:solidFill>
                          <a:latin typeface="Calibri"/>
                        </a:defRPr>
                      </a:pPr>
                      <a:r>
                        <a:t>Flan-T5-Small</a:t>
                      </a:r>
                    </a:p>
                  </a:txBody>
                  <a:tcPr anchor="ctr">
                    <a:solidFill>
                      <a:srgbClr val="F2F2F2"/>
                    </a:solidFill>
                  </a:tcPr>
                </a:tc>
                <a:tc>
                  <a:txBody>
                    <a:bodyPr/>
                    <a:lstStyle/>
                    <a:p>
                      <a:pPr algn="ctr">
                        <a:defRPr sz="1100">
                          <a:solidFill>
                            <a:srgbClr val="1D1D1B"/>
                          </a:solidFill>
                          <a:latin typeface="Calibri"/>
                        </a:defRPr>
                      </a:pPr>
                      <a:r>
                        <a:t>0.0000</a:t>
                      </a:r>
                    </a:p>
                  </a:txBody>
                  <a:tcPr anchor="ctr">
                    <a:solidFill>
                      <a:srgbClr val="F2F2F2"/>
                    </a:solidFill>
                  </a:tcPr>
                </a:tc>
                <a:tc>
                  <a:txBody>
                    <a:bodyPr/>
                    <a:lstStyle/>
                    <a:p>
                      <a:pPr algn="ctr">
                        <a:defRPr sz="1100">
                          <a:solidFill>
                            <a:srgbClr val="1D1D1B"/>
                          </a:solidFill>
                          <a:latin typeface="Calibri"/>
                        </a:defRPr>
                      </a:pPr>
                      <a:r>
                        <a:t>4.2930</a:t>
                      </a:r>
                    </a:p>
                  </a:txBody>
                  <a:tcPr anchor="ctr">
                    <a:solidFill>
                      <a:srgbClr val="F2F2F2"/>
                    </a:solidFill>
                  </a:tcPr>
                </a:tc>
                <a:tc>
                  <a:txBody>
                    <a:bodyPr/>
                    <a:lstStyle/>
                    <a:p>
                      <a:pPr algn="ctr">
                        <a:defRPr sz="1100">
                          <a:solidFill>
                            <a:srgbClr val="1D1D1B"/>
                          </a:solidFill>
                          <a:latin typeface="Calibri"/>
                        </a:defRPr>
                      </a:pPr>
                      <a:r>
                        <a:t>1.0000</a:t>
                      </a:r>
                    </a:p>
                  </a:txBody>
                  <a:tcPr anchor="ctr">
                    <a:solidFill>
                      <a:srgbClr val="F2F2F2"/>
                    </a:solidFill>
                  </a:tcPr>
                </a:tc>
                <a:tc>
                  <a:txBody>
                    <a:bodyPr/>
                    <a:lstStyle/>
                    <a:p>
                      <a:pPr algn="ctr">
                        <a:defRPr sz="1100">
                          <a:solidFill>
                            <a:srgbClr val="1D1D1B"/>
                          </a:solidFill>
                          <a:latin typeface="Calibri"/>
                        </a:defRPr>
                      </a:pPr>
                      <a:r>
                        <a:t>-0.3000</a:t>
                      </a:r>
                    </a:p>
                  </a:txBody>
                  <a:tcPr anchor="ctr">
                    <a:solidFill>
                      <a:srgbClr val="F2F2F2"/>
                    </a:solidFill>
                  </a:tcPr>
                </a:tc>
                <a:extLst>
                  <a:ext uri="{0D108BD9-81ED-4DB2-BD59-A6C34878D82A}">
                    <a16:rowId xmlns:a16="http://schemas.microsoft.com/office/drawing/2014/main" val="10006"/>
                  </a:ext>
                </a:extLst>
              </a:tr>
            </a:tbl>
          </a:graphicData>
        </a:graphic>
      </p:graphicFrame>
      <p:pic>
        <p:nvPicPr>
          <p:cNvPr id="9" name="Picture 8" descr="leaderboard.png">
            <a:extLst>
              <a:ext uri="{FF2B5EF4-FFF2-40B4-BE49-F238E27FC236}">
                <a16:creationId xmlns:a16="http://schemas.microsoft.com/office/drawing/2014/main" id="{4BACACAA-E086-EDE2-301B-0AE733AEAABE}"/>
              </a:ext>
            </a:extLst>
          </p:cNvPr>
          <p:cNvPicPr>
            <a:picLocks noChangeAspect="1"/>
          </p:cNvPicPr>
          <p:nvPr/>
        </p:nvPicPr>
        <p:blipFill>
          <a:blip r:embed="rId2"/>
          <a:stretch>
            <a:fillRect/>
          </a:stretch>
        </p:blipFill>
        <p:spPr>
          <a:xfrm>
            <a:off x="6549657" y="2103120"/>
            <a:ext cx="5493842" cy="408290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006A4D"/>
                </a:solidFill>
                <a:latin typeface="Calibri"/>
              </a:defRPr>
            </a:pPr>
            <a:r>
              <a:t>Key Insights &amp; Recommendations</a:t>
            </a:r>
          </a:p>
        </p:txBody>
      </p:sp>
      <p:sp>
        <p:nvSpPr>
          <p:cNvPr id="4" name="TextBox 3"/>
          <p:cNvSpPr txBox="1"/>
          <p:nvPr/>
        </p:nvSpPr>
        <p:spPr>
          <a:xfrm>
            <a:off x="731520" y="1280160"/>
            <a:ext cx="10058400" cy="365760"/>
          </a:xfrm>
          <a:prstGeom prst="rect">
            <a:avLst/>
          </a:prstGeom>
          <a:noFill/>
        </p:spPr>
        <p:txBody>
          <a:bodyPr wrap="square">
            <a:spAutoFit/>
          </a:bodyPr>
          <a:lstStyle/>
          <a:p>
            <a:pPr algn="l">
              <a:defRPr sz="1600" b="1">
                <a:solidFill>
                  <a:srgbClr val="006A4D"/>
                </a:solidFill>
                <a:latin typeface="Calibri"/>
              </a:defRPr>
            </a:pPr>
            <a:r>
              <a:t>XGBoost wins the efficiency leaderboard</a:t>
            </a:r>
          </a:p>
        </p:txBody>
      </p:sp>
      <p:sp>
        <p:nvSpPr>
          <p:cNvPr id="5" name="TextBox 4"/>
          <p:cNvSpPr txBox="1"/>
          <p:nvPr/>
        </p:nvSpPr>
        <p:spPr>
          <a:xfrm>
            <a:off x="731520" y="1600200"/>
            <a:ext cx="10058400" cy="640080"/>
          </a:xfrm>
          <a:prstGeom prst="rect">
            <a:avLst/>
          </a:prstGeom>
          <a:noFill/>
        </p:spPr>
        <p:txBody>
          <a:bodyPr wrap="square">
            <a:spAutoFit/>
          </a:bodyPr>
          <a:lstStyle/>
          <a:p>
            <a:pPr algn="l">
              <a:defRPr sz="1300" b="0">
                <a:solidFill>
                  <a:srgbClr val="1D1D1B"/>
                </a:solidFill>
                <a:latin typeface="Calibri"/>
              </a:defRPr>
            </a:pPr>
            <a:r>
              <a:t>Best F1 (0.87) with only 0.026g CO₂ — trains in 13 seconds. Random Forest (F1=0.88) is a close second with 0.048g. Both gradient boosting models dominate.</a:t>
            </a:r>
          </a:p>
        </p:txBody>
      </p:sp>
      <p:sp>
        <p:nvSpPr>
          <p:cNvPr id="6" name="TextBox 5"/>
          <p:cNvSpPr txBox="1"/>
          <p:nvPr/>
        </p:nvSpPr>
        <p:spPr>
          <a:xfrm>
            <a:off x="731520" y="2331720"/>
            <a:ext cx="10058400" cy="365760"/>
          </a:xfrm>
          <a:prstGeom prst="rect">
            <a:avLst/>
          </a:prstGeom>
          <a:noFill/>
        </p:spPr>
        <p:txBody>
          <a:bodyPr wrap="square">
            <a:spAutoFit/>
          </a:bodyPr>
          <a:lstStyle/>
          <a:p>
            <a:pPr algn="l">
              <a:defRPr sz="1600" b="1">
                <a:solidFill>
                  <a:srgbClr val="006A4D"/>
                </a:solidFill>
                <a:latin typeface="Calibri"/>
              </a:defRPr>
            </a:pPr>
            <a:r>
              <a:t>Threshold tuning is the best free optimisation</a:t>
            </a:r>
          </a:p>
        </p:txBody>
      </p:sp>
      <p:sp>
        <p:nvSpPr>
          <p:cNvPr id="7" name="TextBox 6"/>
          <p:cNvSpPr txBox="1"/>
          <p:nvPr/>
        </p:nvSpPr>
        <p:spPr>
          <a:xfrm>
            <a:off x="731520" y="2651760"/>
            <a:ext cx="10058400" cy="640080"/>
          </a:xfrm>
          <a:prstGeom prst="rect">
            <a:avLst/>
          </a:prstGeom>
          <a:noFill/>
        </p:spPr>
        <p:txBody>
          <a:bodyPr wrap="square">
            <a:spAutoFit/>
          </a:bodyPr>
          <a:lstStyle/>
          <a:p>
            <a:pPr algn="l">
              <a:defRPr sz="1300" b="0">
                <a:solidFill>
                  <a:srgbClr val="1D1D1B"/>
                </a:solidFill>
                <a:latin typeface="Calibri"/>
              </a:defRPr>
            </a:pPr>
            <a:r>
              <a:t>Tuning the classification threshold improved TabNet F1 from 0.25 to 0.77 and LogReg from 0.11 to 0.82 with zero extra carbon. Every model should do this before deployment.</a:t>
            </a:r>
          </a:p>
        </p:txBody>
      </p:sp>
      <p:sp>
        <p:nvSpPr>
          <p:cNvPr id="8" name="TextBox 7"/>
          <p:cNvSpPr txBox="1"/>
          <p:nvPr/>
        </p:nvSpPr>
        <p:spPr>
          <a:xfrm>
            <a:off x="731520" y="3383279"/>
            <a:ext cx="10058400" cy="365760"/>
          </a:xfrm>
          <a:prstGeom prst="rect">
            <a:avLst/>
          </a:prstGeom>
          <a:noFill/>
        </p:spPr>
        <p:txBody>
          <a:bodyPr wrap="square">
            <a:spAutoFit/>
          </a:bodyPr>
          <a:lstStyle/>
          <a:p>
            <a:pPr algn="l">
              <a:defRPr sz="1600" b="1">
                <a:solidFill>
                  <a:srgbClr val="006A4D"/>
                </a:solidFill>
                <a:latin typeface="Calibri"/>
              </a:defRPr>
            </a:pPr>
            <a:r>
              <a:t>Hyperparameter tuning has a hidden carbon cost</a:t>
            </a:r>
          </a:p>
        </p:txBody>
      </p:sp>
      <p:sp>
        <p:nvSpPr>
          <p:cNvPr id="9" name="TextBox 8"/>
          <p:cNvSpPr txBox="1"/>
          <p:nvPr/>
        </p:nvSpPr>
        <p:spPr>
          <a:xfrm>
            <a:off x="731520" y="3703320"/>
            <a:ext cx="10058400" cy="640080"/>
          </a:xfrm>
          <a:prstGeom prst="rect">
            <a:avLst/>
          </a:prstGeom>
          <a:noFill/>
        </p:spPr>
        <p:txBody>
          <a:bodyPr wrap="square">
            <a:spAutoFit/>
          </a:bodyPr>
          <a:lstStyle/>
          <a:p>
            <a:pPr algn="l">
              <a:defRPr sz="1300" b="0">
                <a:solidFill>
                  <a:srgbClr val="1D1D1B"/>
                </a:solidFill>
                <a:latin typeface="Calibri"/>
              </a:defRPr>
            </a:pPr>
            <a:r>
              <a:t>LightGBM's 50 Optuna trials cost 0.7g CO₂ — 36x more than a single run. The performance gain must justify the search cost.</a:t>
            </a:r>
          </a:p>
        </p:txBody>
      </p:sp>
      <p:sp>
        <p:nvSpPr>
          <p:cNvPr id="10" name="TextBox 9"/>
          <p:cNvSpPr txBox="1"/>
          <p:nvPr/>
        </p:nvSpPr>
        <p:spPr>
          <a:xfrm>
            <a:off x="731520" y="4434840"/>
            <a:ext cx="10058400" cy="365760"/>
          </a:xfrm>
          <a:prstGeom prst="rect">
            <a:avLst/>
          </a:prstGeom>
          <a:noFill/>
        </p:spPr>
        <p:txBody>
          <a:bodyPr wrap="square">
            <a:spAutoFit/>
          </a:bodyPr>
          <a:lstStyle/>
          <a:p>
            <a:pPr algn="l">
              <a:defRPr sz="1600" b="1">
                <a:solidFill>
                  <a:srgbClr val="006A4D"/>
                </a:solidFill>
                <a:latin typeface="Calibri"/>
              </a:defRPr>
            </a:pPr>
            <a:r>
              <a:t>Generative models are wrong for tabular data</a:t>
            </a:r>
          </a:p>
        </p:txBody>
      </p:sp>
      <p:sp>
        <p:nvSpPr>
          <p:cNvPr id="11" name="TextBox 10"/>
          <p:cNvSpPr txBox="1"/>
          <p:nvPr/>
        </p:nvSpPr>
        <p:spPr>
          <a:xfrm>
            <a:off x="731520" y="4754879"/>
            <a:ext cx="10058400" cy="640080"/>
          </a:xfrm>
          <a:prstGeom prst="rect">
            <a:avLst/>
          </a:prstGeom>
          <a:noFill/>
        </p:spPr>
        <p:txBody>
          <a:bodyPr wrap="square">
            <a:spAutoFit/>
          </a:bodyPr>
          <a:lstStyle/>
          <a:p>
            <a:pPr algn="l">
              <a:defRPr sz="1300" b="0">
                <a:solidFill>
                  <a:srgbClr val="1D1D1B"/>
                </a:solidFill>
                <a:latin typeface="Calibri"/>
              </a:defRPr>
            </a:pPr>
            <a:r>
              <a:t>Flan-T5 burned 4,300x more carbon than LogReg and detected zero fraud. NLP models destroy numerical meaning through tokenisation.</a:t>
            </a:r>
          </a:p>
        </p:txBody>
      </p:sp>
      <p:sp>
        <p:nvSpPr>
          <p:cNvPr id="12" name="TextBox 11"/>
          <p:cNvSpPr txBox="1"/>
          <p:nvPr/>
        </p:nvSpPr>
        <p:spPr>
          <a:xfrm>
            <a:off x="731520" y="5486400"/>
            <a:ext cx="10058400" cy="365760"/>
          </a:xfrm>
          <a:prstGeom prst="rect">
            <a:avLst/>
          </a:prstGeom>
          <a:noFill/>
        </p:spPr>
        <p:txBody>
          <a:bodyPr wrap="square">
            <a:spAutoFit/>
          </a:bodyPr>
          <a:lstStyle/>
          <a:p>
            <a:pPr algn="l">
              <a:defRPr sz="1600" b="1">
                <a:solidFill>
                  <a:srgbClr val="006A4D"/>
                </a:solidFill>
                <a:latin typeface="Calibri"/>
              </a:defRPr>
            </a:pPr>
            <a:r>
              <a:t>Recommendation: deploy XGBoost with threshold tuning</a:t>
            </a:r>
          </a:p>
        </p:txBody>
      </p:sp>
      <p:sp>
        <p:nvSpPr>
          <p:cNvPr id="13" name="TextBox 12"/>
          <p:cNvSpPr txBox="1"/>
          <p:nvPr/>
        </p:nvSpPr>
        <p:spPr>
          <a:xfrm>
            <a:off x="731520" y="5806440"/>
            <a:ext cx="10058400" cy="640080"/>
          </a:xfrm>
          <a:prstGeom prst="rect">
            <a:avLst/>
          </a:prstGeom>
          <a:noFill/>
        </p:spPr>
        <p:txBody>
          <a:bodyPr wrap="square">
            <a:spAutoFit/>
          </a:bodyPr>
          <a:lstStyle/>
          <a:p>
            <a:pPr algn="l">
              <a:defRPr sz="1300" b="0">
                <a:solidFill>
                  <a:srgbClr val="1D1D1B"/>
                </a:solidFill>
                <a:latin typeface="Calibri"/>
              </a:defRPr>
            </a:pPr>
            <a:r>
              <a:t>Or use a two-stage pipeline: LogReg as a fast filter (near-zero carbon), then XGBoost/RF only on flagged transactions — saving ~90% of inference carbon.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926080"/>
          </a:xfrm>
          <a:prstGeom prst="rect">
            <a:avLst/>
          </a:prstGeom>
          <a:solidFill>
            <a:srgbClr val="006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31520"/>
            <a:ext cx="10058400" cy="109728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4" name="TextBox 3"/>
          <p:cNvSpPr txBox="1"/>
          <p:nvPr/>
        </p:nvSpPr>
        <p:spPr>
          <a:xfrm>
            <a:off x="731520" y="1828800"/>
            <a:ext cx="10058400" cy="731520"/>
          </a:xfrm>
          <a:prstGeom prst="rect">
            <a:avLst/>
          </a:prstGeom>
          <a:noFill/>
        </p:spPr>
        <p:txBody>
          <a:bodyPr wrap="square">
            <a:spAutoFit/>
          </a:bodyPr>
          <a:lstStyle/>
          <a:p>
            <a:pPr algn="ctr">
              <a:defRPr sz="2800" b="0">
                <a:solidFill>
                  <a:srgbClr val="CCFFCC"/>
                </a:solidFill>
                <a:latin typeface="Calibri"/>
              </a:defRPr>
            </a:pPr>
            <a:r>
              <a:t>Questions?</a:t>
            </a:r>
          </a:p>
        </p:txBody>
      </p:sp>
      <p:sp>
        <p:nvSpPr>
          <p:cNvPr id="5" name="TextBox 4"/>
          <p:cNvSpPr txBox="1"/>
          <p:nvPr/>
        </p:nvSpPr>
        <p:spPr>
          <a:xfrm>
            <a:off x="731520" y="3657600"/>
            <a:ext cx="10058400" cy="1371600"/>
          </a:xfrm>
          <a:prstGeom prst="rect">
            <a:avLst/>
          </a:prstGeom>
          <a:noFill/>
        </p:spPr>
        <p:txBody>
          <a:bodyPr wrap="square">
            <a:spAutoFit/>
          </a:bodyPr>
          <a:lstStyle/>
          <a:p>
            <a:pPr algn="ctr">
              <a:defRPr sz="1800" b="0">
                <a:solidFill>
                  <a:srgbClr val="1D1D1B"/>
                </a:solidFill>
                <a:latin typeface="Calibri"/>
              </a:defRPr>
            </a:pPr>
            <a:r>
              <a:t>BDSS Annual Datathon 2026</a:t>
            </a:r>
            <a:br/>
            <a:r>
              <a:t>Lloyds Banking Group</a:t>
            </a:r>
            <a:br/>
            <a:br/>
            <a:r>
              <a:t>Credit Card Fraud Detection: Performance vs Environmental Footprint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946</Words>
  <Application>Microsoft Macintosh PowerPoint</Application>
  <PresentationFormat>Widescreen</PresentationFormat>
  <Paragraphs>195</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Orlando Alexander</cp:lastModifiedBy>
  <cp:revision>1</cp:revision>
  <dcterms:created xsi:type="dcterms:W3CDTF">2013-01-27T09:14:16Z</dcterms:created>
  <dcterms:modified xsi:type="dcterms:W3CDTF">2026-03-15T15:05:22Z</dcterms:modified>
  <cp:category/>
</cp:coreProperties>
</file>